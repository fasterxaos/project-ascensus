
<file path=[Content_Types].xml><?xml version="1.0" encoding="utf-8"?>
<Types xmlns="http://schemas.openxmlformats.org/package/2006/content-types">
  <Default Extension="gif" ContentType="image/gi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sldIdLst>
    <p:sldId id="260" r:id="rId2"/>
    <p:sldId id="262" r:id="rId3"/>
    <p:sldId id="263" r:id="rId4"/>
    <p:sldId id="256" r:id="rId5"/>
    <p:sldId id="259" r:id="rId6"/>
    <p:sldId id="257" r:id="rId7"/>
    <p:sldId id="258" r:id="rId8"/>
    <p:sldId id="261" r:id="rId9"/>
  </p:sldIdLst>
  <p:sldSz cx="10691813" cy="756126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91" d="100"/>
          <a:sy n="91" d="100"/>
        </p:scale>
        <p:origin x="1026" y="7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viewProps" Target="viewProps.xml"/><Relationship Id="rId5" Type="http://schemas.openxmlformats.org/officeDocument/2006/relationships/slide" Target="slides/slide4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801886" y="1237457"/>
            <a:ext cx="9088041" cy="2632440"/>
          </a:xfrm>
        </p:spPr>
        <p:txBody>
          <a:bodyPr anchor="b"/>
          <a:lstStyle>
            <a:lvl1pPr algn="ctr">
              <a:defRPr sz="6615"/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36477" y="3971414"/>
            <a:ext cx="8018860" cy="1825554"/>
          </a:xfrm>
        </p:spPr>
        <p:txBody>
          <a:bodyPr/>
          <a:lstStyle>
            <a:lvl1pPr marL="0" indent="0" algn="ctr">
              <a:buNone/>
              <a:defRPr sz="2646"/>
            </a:lvl1pPr>
            <a:lvl2pPr marL="504063" indent="0" algn="ctr">
              <a:buNone/>
              <a:defRPr sz="2205"/>
            </a:lvl2pPr>
            <a:lvl3pPr marL="1008126" indent="0" algn="ctr">
              <a:buNone/>
              <a:defRPr sz="1985"/>
            </a:lvl3pPr>
            <a:lvl4pPr marL="1512189" indent="0" algn="ctr">
              <a:buNone/>
              <a:defRPr sz="1764"/>
            </a:lvl4pPr>
            <a:lvl5pPr marL="2016252" indent="0" algn="ctr">
              <a:buNone/>
              <a:defRPr sz="1764"/>
            </a:lvl5pPr>
            <a:lvl6pPr marL="2520315" indent="0" algn="ctr">
              <a:buNone/>
              <a:defRPr sz="1764"/>
            </a:lvl6pPr>
            <a:lvl7pPr marL="3024378" indent="0" algn="ctr">
              <a:buNone/>
              <a:defRPr sz="1764"/>
            </a:lvl7pPr>
            <a:lvl8pPr marL="3528441" indent="0" algn="ctr">
              <a:buNone/>
              <a:defRPr sz="1764"/>
            </a:lvl8pPr>
            <a:lvl9pPr marL="4032504" indent="0" algn="ctr">
              <a:buNone/>
              <a:defRPr sz="1764"/>
            </a:lvl9pPr>
          </a:lstStyle>
          <a:p>
            <a:r>
              <a:rPr lang="ru-RU"/>
              <a:t>Образец подзаголовка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412F206-934A-4AEB-8CDD-488D750A95A8}" type="datetimeFigureOut">
              <a:rPr lang="ru-RU" smtClean="0"/>
              <a:t>30.03.2026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7CD67D6-1FB7-4AD0-B74D-9D191D09169B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78965196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412F206-934A-4AEB-8CDD-488D750A95A8}" type="datetimeFigureOut">
              <a:rPr lang="ru-RU" smtClean="0"/>
              <a:t>30.03.2026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7CD67D6-1FB7-4AD0-B74D-9D191D09169B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19974774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Заголовок раздел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9494" y="1885067"/>
            <a:ext cx="9221689" cy="3145275"/>
          </a:xfrm>
        </p:spPr>
        <p:txBody>
          <a:bodyPr anchor="b"/>
          <a:lstStyle>
            <a:lvl1pPr>
              <a:defRPr sz="6615"/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9494" y="5060097"/>
            <a:ext cx="9221689" cy="1654026"/>
          </a:xfrm>
        </p:spPr>
        <p:txBody>
          <a:bodyPr/>
          <a:lstStyle>
            <a:lvl1pPr marL="0" indent="0">
              <a:buNone/>
              <a:defRPr sz="2646">
                <a:solidFill>
                  <a:schemeClr val="tx1"/>
                </a:solidFill>
              </a:defRPr>
            </a:lvl1pPr>
            <a:lvl2pPr marL="504063" indent="0">
              <a:buNone/>
              <a:defRPr sz="2205">
                <a:solidFill>
                  <a:schemeClr val="tx1">
                    <a:tint val="75000"/>
                  </a:schemeClr>
                </a:solidFill>
              </a:defRPr>
            </a:lvl2pPr>
            <a:lvl3pPr marL="1008126" indent="0">
              <a:buNone/>
              <a:defRPr sz="1985">
                <a:solidFill>
                  <a:schemeClr val="tx1">
                    <a:tint val="75000"/>
                  </a:schemeClr>
                </a:solidFill>
              </a:defRPr>
            </a:lvl3pPr>
            <a:lvl4pPr marL="1512189" indent="0">
              <a:buNone/>
              <a:defRPr sz="1764">
                <a:solidFill>
                  <a:schemeClr val="tx1">
                    <a:tint val="75000"/>
                  </a:schemeClr>
                </a:solidFill>
              </a:defRPr>
            </a:lvl4pPr>
            <a:lvl5pPr marL="2016252" indent="0">
              <a:buNone/>
              <a:defRPr sz="1764">
                <a:solidFill>
                  <a:schemeClr val="tx1">
                    <a:tint val="75000"/>
                  </a:schemeClr>
                </a:solidFill>
              </a:defRPr>
            </a:lvl5pPr>
            <a:lvl6pPr marL="2520315" indent="0">
              <a:buNone/>
              <a:defRPr sz="1764">
                <a:solidFill>
                  <a:schemeClr val="tx1">
                    <a:tint val="75000"/>
                  </a:schemeClr>
                </a:solidFill>
              </a:defRPr>
            </a:lvl6pPr>
            <a:lvl7pPr marL="3024378" indent="0">
              <a:buNone/>
              <a:defRPr sz="1764">
                <a:solidFill>
                  <a:schemeClr val="tx1">
                    <a:tint val="75000"/>
                  </a:schemeClr>
                </a:solidFill>
              </a:defRPr>
            </a:lvl7pPr>
            <a:lvl8pPr marL="3528441" indent="0">
              <a:buNone/>
              <a:defRPr sz="1764">
                <a:solidFill>
                  <a:schemeClr val="tx1">
                    <a:tint val="75000"/>
                  </a:schemeClr>
                </a:solidFill>
              </a:defRPr>
            </a:lvl8pPr>
            <a:lvl9pPr marL="4032504" indent="0">
              <a:buNone/>
              <a:defRPr sz="1764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412F206-934A-4AEB-8CDD-488D750A95A8}" type="datetimeFigureOut">
              <a:rPr lang="ru-RU" smtClean="0"/>
              <a:t>30.03.2026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7CD67D6-1FB7-4AD0-B74D-9D191D09169B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64888750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735062" y="2012836"/>
            <a:ext cx="4544021" cy="4797552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412730" y="2012836"/>
            <a:ext cx="4544021" cy="4797552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412F206-934A-4AEB-8CDD-488D750A95A8}" type="datetimeFigureOut">
              <a:rPr lang="ru-RU" smtClean="0"/>
              <a:t>30.03.2026</a:t>
            </a:fld>
            <a:endParaRPr lang="ru-R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7CD67D6-1FB7-4AD0-B74D-9D191D09169B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64871162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36455" y="402569"/>
            <a:ext cx="9221689" cy="1461495"/>
          </a:xfrm>
        </p:spPr>
        <p:txBody>
          <a:bodyPr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36456" y="1853560"/>
            <a:ext cx="4523137" cy="908401"/>
          </a:xfrm>
        </p:spPr>
        <p:txBody>
          <a:bodyPr anchor="b"/>
          <a:lstStyle>
            <a:lvl1pPr marL="0" indent="0">
              <a:buNone/>
              <a:defRPr sz="2646" b="1"/>
            </a:lvl1pPr>
            <a:lvl2pPr marL="504063" indent="0">
              <a:buNone/>
              <a:defRPr sz="2205" b="1"/>
            </a:lvl2pPr>
            <a:lvl3pPr marL="1008126" indent="0">
              <a:buNone/>
              <a:defRPr sz="1985" b="1"/>
            </a:lvl3pPr>
            <a:lvl4pPr marL="1512189" indent="0">
              <a:buNone/>
              <a:defRPr sz="1764" b="1"/>
            </a:lvl4pPr>
            <a:lvl5pPr marL="2016252" indent="0">
              <a:buNone/>
              <a:defRPr sz="1764" b="1"/>
            </a:lvl5pPr>
            <a:lvl6pPr marL="2520315" indent="0">
              <a:buNone/>
              <a:defRPr sz="1764" b="1"/>
            </a:lvl6pPr>
            <a:lvl7pPr marL="3024378" indent="0">
              <a:buNone/>
              <a:defRPr sz="1764" b="1"/>
            </a:lvl7pPr>
            <a:lvl8pPr marL="3528441" indent="0">
              <a:buNone/>
              <a:defRPr sz="1764" b="1"/>
            </a:lvl8pPr>
            <a:lvl9pPr marL="4032504" indent="0">
              <a:buNone/>
              <a:defRPr sz="1764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736456" y="2761961"/>
            <a:ext cx="4523137" cy="4062429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412731" y="1853560"/>
            <a:ext cx="4545413" cy="908401"/>
          </a:xfrm>
        </p:spPr>
        <p:txBody>
          <a:bodyPr anchor="b"/>
          <a:lstStyle>
            <a:lvl1pPr marL="0" indent="0">
              <a:buNone/>
              <a:defRPr sz="2646" b="1"/>
            </a:lvl1pPr>
            <a:lvl2pPr marL="504063" indent="0">
              <a:buNone/>
              <a:defRPr sz="2205" b="1"/>
            </a:lvl2pPr>
            <a:lvl3pPr marL="1008126" indent="0">
              <a:buNone/>
              <a:defRPr sz="1985" b="1"/>
            </a:lvl3pPr>
            <a:lvl4pPr marL="1512189" indent="0">
              <a:buNone/>
              <a:defRPr sz="1764" b="1"/>
            </a:lvl4pPr>
            <a:lvl5pPr marL="2016252" indent="0">
              <a:buNone/>
              <a:defRPr sz="1764" b="1"/>
            </a:lvl5pPr>
            <a:lvl6pPr marL="2520315" indent="0">
              <a:buNone/>
              <a:defRPr sz="1764" b="1"/>
            </a:lvl6pPr>
            <a:lvl7pPr marL="3024378" indent="0">
              <a:buNone/>
              <a:defRPr sz="1764" b="1"/>
            </a:lvl7pPr>
            <a:lvl8pPr marL="3528441" indent="0">
              <a:buNone/>
              <a:defRPr sz="1764" b="1"/>
            </a:lvl8pPr>
            <a:lvl9pPr marL="4032504" indent="0">
              <a:buNone/>
              <a:defRPr sz="1764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412731" y="2761961"/>
            <a:ext cx="4545413" cy="4062429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412F206-934A-4AEB-8CDD-488D750A95A8}" type="datetimeFigureOut">
              <a:rPr lang="ru-RU" smtClean="0"/>
              <a:t>30.03.2026</a:t>
            </a:fld>
            <a:endParaRPr lang="ru-RU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7CD67D6-1FB7-4AD0-B74D-9D191D09169B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08340293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412F206-934A-4AEB-8CDD-488D750A95A8}" type="datetimeFigureOut">
              <a:rPr lang="ru-RU" smtClean="0"/>
              <a:t>30.03.2026</a:t>
            </a:fld>
            <a:endParaRPr lang="ru-RU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7CD67D6-1FB7-4AD0-B74D-9D191D09169B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56640800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412F206-934A-4AEB-8CDD-488D750A95A8}" type="datetimeFigureOut">
              <a:rPr lang="ru-RU" smtClean="0"/>
              <a:t>30.03.2026</a:t>
            </a:fld>
            <a:endParaRPr lang="ru-RU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7CD67D6-1FB7-4AD0-B74D-9D191D09169B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58316294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36455" y="504084"/>
            <a:ext cx="3448388" cy="1764295"/>
          </a:xfrm>
        </p:spPr>
        <p:txBody>
          <a:bodyPr anchor="b"/>
          <a:lstStyle>
            <a:lvl1pPr>
              <a:defRPr sz="3528"/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45413" y="1088683"/>
            <a:ext cx="5412730" cy="5373398"/>
          </a:xfrm>
        </p:spPr>
        <p:txBody>
          <a:bodyPr/>
          <a:lstStyle>
            <a:lvl1pPr>
              <a:defRPr sz="3528"/>
            </a:lvl1pPr>
            <a:lvl2pPr>
              <a:defRPr sz="3087"/>
            </a:lvl2pPr>
            <a:lvl3pPr>
              <a:defRPr sz="2646"/>
            </a:lvl3pPr>
            <a:lvl4pPr>
              <a:defRPr sz="2205"/>
            </a:lvl4pPr>
            <a:lvl5pPr>
              <a:defRPr sz="2205"/>
            </a:lvl5pPr>
            <a:lvl6pPr>
              <a:defRPr sz="2205"/>
            </a:lvl6pPr>
            <a:lvl7pPr>
              <a:defRPr sz="2205"/>
            </a:lvl7pPr>
            <a:lvl8pPr>
              <a:defRPr sz="2205"/>
            </a:lvl8pPr>
            <a:lvl9pPr>
              <a:defRPr sz="2205"/>
            </a:lvl9pPr>
          </a:lstStyle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736455" y="2268379"/>
            <a:ext cx="3448388" cy="4202453"/>
          </a:xfrm>
        </p:spPr>
        <p:txBody>
          <a:bodyPr/>
          <a:lstStyle>
            <a:lvl1pPr marL="0" indent="0">
              <a:buNone/>
              <a:defRPr sz="1764"/>
            </a:lvl1pPr>
            <a:lvl2pPr marL="504063" indent="0">
              <a:buNone/>
              <a:defRPr sz="1544"/>
            </a:lvl2pPr>
            <a:lvl3pPr marL="1008126" indent="0">
              <a:buNone/>
              <a:defRPr sz="1323"/>
            </a:lvl3pPr>
            <a:lvl4pPr marL="1512189" indent="0">
              <a:buNone/>
              <a:defRPr sz="1103"/>
            </a:lvl4pPr>
            <a:lvl5pPr marL="2016252" indent="0">
              <a:buNone/>
              <a:defRPr sz="1103"/>
            </a:lvl5pPr>
            <a:lvl6pPr marL="2520315" indent="0">
              <a:buNone/>
              <a:defRPr sz="1103"/>
            </a:lvl6pPr>
            <a:lvl7pPr marL="3024378" indent="0">
              <a:buNone/>
              <a:defRPr sz="1103"/>
            </a:lvl7pPr>
            <a:lvl8pPr marL="3528441" indent="0">
              <a:buNone/>
              <a:defRPr sz="1103"/>
            </a:lvl8pPr>
            <a:lvl9pPr marL="4032504" indent="0">
              <a:buNone/>
              <a:defRPr sz="1103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412F206-934A-4AEB-8CDD-488D750A95A8}" type="datetimeFigureOut">
              <a:rPr lang="ru-RU" smtClean="0"/>
              <a:t>30.03.2026</a:t>
            </a:fld>
            <a:endParaRPr lang="ru-R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7CD67D6-1FB7-4AD0-B74D-9D191D09169B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98456553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36455" y="504084"/>
            <a:ext cx="3448388" cy="1764295"/>
          </a:xfrm>
        </p:spPr>
        <p:txBody>
          <a:bodyPr anchor="b"/>
          <a:lstStyle>
            <a:lvl1pPr>
              <a:defRPr sz="3528"/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4545413" y="1088683"/>
            <a:ext cx="5412730" cy="5373398"/>
          </a:xfrm>
        </p:spPr>
        <p:txBody>
          <a:bodyPr anchor="t"/>
          <a:lstStyle>
            <a:lvl1pPr marL="0" indent="0">
              <a:buNone/>
              <a:defRPr sz="3528"/>
            </a:lvl1pPr>
            <a:lvl2pPr marL="504063" indent="0">
              <a:buNone/>
              <a:defRPr sz="3087"/>
            </a:lvl2pPr>
            <a:lvl3pPr marL="1008126" indent="0">
              <a:buNone/>
              <a:defRPr sz="2646"/>
            </a:lvl3pPr>
            <a:lvl4pPr marL="1512189" indent="0">
              <a:buNone/>
              <a:defRPr sz="2205"/>
            </a:lvl4pPr>
            <a:lvl5pPr marL="2016252" indent="0">
              <a:buNone/>
              <a:defRPr sz="2205"/>
            </a:lvl5pPr>
            <a:lvl6pPr marL="2520315" indent="0">
              <a:buNone/>
              <a:defRPr sz="2205"/>
            </a:lvl6pPr>
            <a:lvl7pPr marL="3024378" indent="0">
              <a:buNone/>
              <a:defRPr sz="2205"/>
            </a:lvl7pPr>
            <a:lvl8pPr marL="3528441" indent="0">
              <a:buNone/>
              <a:defRPr sz="2205"/>
            </a:lvl8pPr>
            <a:lvl9pPr marL="4032504" indent="0">
              <a:buNone/>
              <a:defRPr sz="2205"/>
            </a:lvl9pPr>
          </a:lstStyle>
          <a:p>
            <a:r>
              <a:rPr lang="ru-RU"/>
              <a:t>Вставка рисунка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736455" y="2268379"/>
            <a:ext cx="3448388" cy="4202453"/>
          </a:xfrm>
        </p:spPr>
        <p:txBody>
          <a:bodyPr/>
          <a:lstStyle>
            <a:lvl1pPr marL="0" indent="0">
              <a:buNone/>
              <a:defRPr sz="1764"/>
            </a:lvl1pPr>
            <a:lvl2pPr marL="504063" indent="0">
              <a:buNone/>
              <a:defRPr sz="1544"/>
            </a:lvl2pPr>
            <a:lvl3pPr marL="1008126" indent="0">
              <a:buNone/>
              <a:defRPr sz="1323"/>
            </a:lvl3pPr>
            <a:lvl4pPr marL="1512189" indent="0">
              <a:buNone/>
              <a:defRPr sz="1103"/>
            </a:lvl4pPr>
            <a:lvl5pPr marL="2016252" indent="0">
              <a:buNone/>
              <a:defRPr sz="1103"/>
            </a:lvl5pPr>
            <a:lvl6pPr marL="2520315" indent="0">
              <a:buNone/>
              <a:defRPr sz="1103"/>
            </a:lvl6pPr>
            <a:lvl7pPr marL="3024378" indent="0">
              <a:buNone/>
              <a:defRPr sz="1103"/>
            </a:lvl7pPr>
            <a:lvl8pPr marL="3528441" indent="0">
              <a:buNone/>
              <a:defRPr sz="1103"/>
            </a:lvl8pPr>
            <a:lvl9pPr marL="4032504" indent="0">
              <a:buNone/>
              <a:defRPr sz="1103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412F206-934A-4AEB-8CDD-488D750A95A8}" type="datetimeFigureOut">
              <a:rPr lang="ru-RU" smtClean="0"/>
              <a:t>30.03.2026</a:t>
            </a:fld>
            <a:endParaRPr lang="ru-R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7CD67D6-1FB7-4AD0-B74D-9D191D09169B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85368467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Заголовок и вертикальный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412F206-934A-4AEB-8CDD-488D750A95A8}" type="datetimeFigureOut">
              <a:rPr lang="ru-RU" smtClean="0"/>
              <a:t>30.03.2026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7CD67D6-1FB7-4AD0-B74D-9D191D09169B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46759735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Вертикальный заголовок и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7651329" y="402567"/>
            <a:ext cx="2305422" cy="6407821"/>
          </a:xfrm>
        </p:spPr>
        <p:txBody>
          <a:bodyPr vert="eaVert"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735063" y="402567"/>
            <a:ext cx="6782619" cy="6407821"/>
          </a:xfrm>
        </p:spPr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412F206-934A-4AEB-8CDD-488D750A95A8}" type="datetimeFigureOut">
              <a:rPr lang="ru-RU" smtClean="0"/>
              <a:t>30.03.2026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7CD67D6-1FB7-4AD0-B74D-9D191D09169B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63135228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35062" y="402569"/>
            <a:ext cx="9221689" cy="146149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35062" y="2012836"/>
            <a:ext cx="9221689" cy="479755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35062" y="7008172"/>
            <a:ext cx="2405658" cy="40256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323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412F206-934A-4AEB-8CDD-488D750A95A8}" type="datetimeFigureOut">
              <a:rPr lang="ru-RU" smtClean="0"/>
              <a:t>30.03.2026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541663" y="7008172"/>
            <a:ext cx="3608487" cy="40256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323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7551093" y="7008172"/>
            <a:ext cx="2405658" cy="40256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323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7CD67D6-1FB7-4AD0-B74D-9D191D09169B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13676360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1008126" rtl="0" eaLnBrk="1" latinLnBrk="0" hangingPunct="1">
        <a:lnSpc>
          <a:spcPct val="90000"/>
        </a:lnSpc>
        <a:spcBef>
          <a:spcPct val="0"/>
        </a:spcBef>
        <a:buNone/>
        <a:defRPr sz="4851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52032" indent="-252032" algn="l" defTabSz="1008126" rtl="0" eaLnBrk="1" latinLnBrk="0" hangingPunct="1">
        <a:lnSpc>
          <a:spcPct val="90000"/>
        </a:lnSpc>
        <a:spcBef>
          <a:spcPts val="1103"/>
        </a:spcBef>
        <a:buFont typeface="Arial" panose="020B0604020202020204" pitchFamily="34" charset="0"/>
        <a:buChar char="•"/>
        <a:defRPr sz="3087" kern="1200">
          <a:solidFill>
            <a:schemeClr val="tx1"/>
          </a:solidFill>
          <a:latin typeface="+mn-lt"/>
          <a:ea typeface="+mn-ea"/>
          <a:cs typeface="+mn-cs"/>
        </a:defRPr>
      </a:lvl1pPr>
      <a:lvl2pPr marL="756095" indent="-252032" algn="l" defTabSz="1008126" rtl="0" eaLnBrk="1" latinLnBrk="0" hangingPunct="1">
        <a:lnSpc>
          <a:spcPct val="90000"/>
        </a:lnSpc>
        <a:spcBef>
          <a:spcPts val="551"/>
        </a:spcBef>
        <a:buFont typeface="Arial" panose="020B0604020202020204" pitchFamily="34" charset="0"/>
        <a:buChar char="•"/>
        <a:defRPr sz="2646" kern="1200">
          <a:solidFill>
            <a:schemeClr val="tx1"/>
          </a:solidFill>
          <a:latin typeface="+mn-lt"/>
          <a:ea typeface="+mn-ea"/>
          <a:cs typeface="+mn-cs"/>
        </a:defRPr>
      </a:lvl2pPr>
      <a:lvl3pPr marL="1260158" indent="-252032" algn="l" defTabSz="1008126" rtl="0" eaLnBrk="1" latinLnBrk="0" hangingPunct="1">
        <a:lnSpc>
          <a:spcPct val="90000"/>
        </a:lnSpc>
        <a:spcBef>
          <a:spcPts val="551"/>
        </a:spcBef>
        <a:buFont typeface="Arial" panose="020B0604020202020204" pitchFamily="34" charset="0"/>
        <a:buChar char="•"/>
        <a:defRPr sz="2205" kern="1200">
          <a:solidFill>
            <a:schemeClr val="tx1"/>
          </a:solidFill>
          <a:latin typeface="+mn-lt"/>
          <a:ea typeface="+mn-ea"/>
          <a:cs typeface="+mn-cs"/>
        </a:defRPr>
      </a:lvl3pPr>
      <a:lvl4pPr marL="1764221" indent="-252032" algn="l" defTabSz="1008126" rtl="0" eaLnBrk="1" latinLnBrk="0" hangingPunct="1">
        <a:lnSpc>
          <a:spcPct val="90000"/>
        </a:lnSpc>
        <a:spcBef>
          <a:spcPts val="551"/>
        </a:spcBef>
        <a:buFont typeface="Arial" panose="020B0604020202020204" pitchFamily="34" charset="0"/>
        <a:buChar char="•"/>
        <a:defRPr sz="1985" kern="1200">
          <a:solidFill>
            <a:schemeClr val="tx1"/>
          </a:solidFill>
          <a:latin typeface="+mn-lt"/>
          <a:ea typeface="+mn-ea"/>
          <a:cs typeface="+mn-cs"/>
        </a:defRPr>
      </a:lvl4pPr>
      <a:lvl5pPr marL="2268284" indent="-252032" algn="l" defTabSz="1008126" rtl="0" eaLnBrk="1" latinLnBrk="0" hangingPunct="1">
        <a:lnSpc>
          <a:spcPct val="90000"/>
        </a:lnSpc>
        <a:spcBef>
          <a:spcPts val="551"/>
        </a:spcBef>
        <a:buFont typeface="Arial" panose="020B0604020202020204" pitchFamily="34" charset="0"/>
        <a:buChar char="•"/>
        <a:defRPr sz="1985" kern="1200">
          <a:solidFill>
            <a:schemeClr val="tx1"/>
          </a:solidFill>
          <a:latin typeface="+mn-lt"/>
          <a:ea typeface="+mn-ea"/>
          <a:cs typeface="+mn-cs"/>
        </a:defRPr>
      </a:lvl5pPr>
      <a:lvl6pPr marL="2772347" indent="-252032" algn="l" defTabSz="1008126" rtl="0" eaLnBrk="1" latinLnBrk="0" hangingPunct="1">
        <a:lnSpc>
          <a:spcPct val="90000"/>
        </a:lnSpc>
        <a:spcBef>
          <a:spcPts val="551"/>
        </a:spcBef>
        <a:buFont typeface="Arial" panose="020B0604020202020204" pitchFamily="34" charset="0"/>
        <a:buChar char="•"/>
        <a:defRPr sz="1985" kern="1200">
          <a:solidFill>
            <a:schemeClr val="tx1"/>
          </a:solidFill>
          <a:latin typeface="+mn-lt"/>
          <a:ea typeface="+mn-ea"/>
          <a:cs typeface="+mn-cs"/>
        </a:defRPr>
      </a:lvl6pPr>
      <a:lvl7pPr marL="3276410" indent="-252032" algn="l" defTabSz="1008126" rtl="0" eaLnBrk="1" latinLnBrk="0" hangingPunct="1">
        <a:lnSpc>
          <a:spcPct val="90000"/>
        </a:lnSpc>
        <a:spcBef>
          <a:spcPts val="551"/>
        </a:spcBef>
        <a:buFont typeface="Arial" panose="020B0604020202020204" pitchFamily="34" charset="0"/>
        <a:buChar char="•"/>
        <a:defRPr sz="1985" kern="1200">
          <a:solidFill>
            <a:schemeClr val="tx1"/>
          </a:solidFill>
          <a:latin typeface="+mn-lt"/>
          <a:ea typeface="+mn-ea"/>
          <a:cs typeface="+mn-cs"/>
        </a:defRPr>
      </a:lvl7pPr>
      <a:lvl8pPr marL="3780473" indent="-252032" algn="l" defTabSz="1008126" rtl="0" eaLnBrk="1" latinLnBrk="0" hangingPunct="1">
        <a:lnSpc>
          <a:spcPct val="90000"/>
        </a:lnSpc>
        <a:spcBef>
          <a:spcPts val="551"/>
        </a:spcBef>
        <a:buFont typeface="Arial" panose="020B0604020202020204" pitchFamily="34" charset="0"/>
        <a:buChar char="•"/>
        <a:defRPr sz="1985" kern="1200">
          <a:solidFill>
            <a:schemeClr val="tx1"/>
          </a:solidFill>
          <a:latin typeface="+mn-lt"/>
          <a:ea typeface="+mn-ea"/>
          <a:cs typeface="+mn-cs"/>
        </a:defRPr>
      </a:lvl8pPr>
      <a:lvl9pPr marL="4284536" indent="-252032" algn="l" defTabSz="1008126" rtl="0" eaLnBrk="1" latinLnBrk="0" hangingPunct="1">
        <a:lnSpc>
          <a:spcPct val="90000"/>
        </a:lnSpc>
        <a:spcBef>
          <a:spcPts val="551"/>
        </a:spcBef>
        <a:buFont typeface="Arial" panose="020B0604020202020204" pitchFamily="34" charset="0"/>
        <a:buChar char="•"/>
        <a:defRPr sz="1985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1008126" rtl="0" eaLnBrk="1" latinLnBrk="0" hangingPunct="1">
        <a:defRPr sz="1985" kern="1200">
          <a:solidFill>
            <a:schemeClr val="tx1"/>
          </a:solidFill>
          <a:latin typeface="+mn-lt"/>
          <a:ea typeface="+mn-ea"/>
          <a:cs typeface="+mn-cs"/>
        </a:defRPr>
      </a:lvl1pPr>
      <a:lvl2pPr marL="504063" algn="l" defTabSz="1008126" rtl="0" eaLnBrk="1" latinLnBrk="0" hangingPunct="1">
        <a:defRPr sz="1985" kern="1200">
          <a:solidFill>
            <a:schemeClr val="tx1"/>
          </a:solidFill>
          <a:latin typeface="+mn-lt"/>
          <a:ea typeface="+mn-ea"/>
          <a:cs typeface="+mn-cs"/>
        </a:defRPr>
      </a:lvl2pPr>
      <a:lvl3pPr marL="1008126" algn="l" defTabSz="1008126" rtl="0" eaLnBrk="1" latinLnBrk="0" hangingPunct="1">
        <a:defRPr sz="1985" kern="1200">
          <a:solidFill>
            <a:schemeClr val="tx1"/>
          </a:solidFill>
          <a:latin typeface="+mn-lt"/>
          <a:ea typeface="+mn-ea"/>
          <a:cs typeface="+mn-cs"/>
        </a:defRPr>
      </a:lvl3pPr>
      <a:lvl4pPr marL="1512189" algn="l" defTabSz="1008126" rtl="0" eaLnBrk="1" latinLnBrk="0" hangingPunct="1">
        <a:defRPr sz="1985" kern="1200">
          <a:solidFill>
            <a:schemeClr val="tx1"/>
          </a:solidFill>
          <a:latin typeface="+mn-lt"/>
          <a:ea typeface="+mn-ea"/>
          <a:cs typeface="+mn-cs"/>
        </a:defRPr>
      </a:lvl4pPr>
      <a:lvl5pPr marL="2016252" algn="l" defTabSz="1008126" rtl="0" eaLnBrk="1" latinLnBrk="0" hangingPunct="1">
        <a:defRPr sz="1985" kern="1200">
          <a:solidFill>
            <a:schemeClr val="tx1"/>
          </a:solidFill>
          <a:latin typeface="+mn-lt"/>
          <a:ea typeface="+mn-ea"/>
          <a:cs typeface="+mn-cs"/>
        </a:defRPr>
      </a:lvl5pPr>
      <a:lvl6pPr marL="2520315" algn="l" defTabSz="1008126" rtl="0" eaLnBrk="1" latinLnBrk="0" hangingPunct="1">
        <a:defRPr sz="1985" kern="1200">
          <a:solidFill>
            <a:schemeClr val="tx1"/>
          </a:solidFill>
          <a:latin typeface="+mn-lt"/>
          <a:ea typeface="+mn-ea"/>
          <a:cs typeface="+mn-cs"/>
        </a:defRPr>
      </a:lvl6pPr>
      <a:lvl7pPr marL="3024378" algn="l" defTabSz="1008126" rtl="0" eaLnBrk="1" latinLnBrk="0" hangingPunct="1">
        <a:defRPr sz="1985" kern="1200">
          <a:solidFill>
            <a:schemeClr val="tx1"/>
          </a:solidFill>
          <a:latin typeface="+mn-lt"/>
          <a:ea typeface="+mn-ea"/>
          <a:cs typeface="+mn-cs"/>
        </a:defRPr>
      </a:lvl7pPr>
      <a:lvl8pPr marL="3528441" algn="l" defTabSz="1008126" rtl="0" eaLnBrk="1" latinLnBrk="0" hangingPunct="1">
        <a:defRPr sz="1985" kern="1200">
          <a:solidFill>
            <a:schemeClr val="tx1"/>
          </a:solidFill>
          <a:latin typeface="+mn-lt"/>
          <a:ea typeface="+mn-ea"/>
          <a:cs typeface="+mn-cs"/>
        </a:defRPr>
      </a:lvl8pPr>
      <a:lvl9pPr marL="4032504" algn="l" defTabSz="1008126" rtl="0" eaLnBrk="1" latinLnBrk="0" hangingPunct="1">
        <a:defRPr sz="1985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gif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49185C7A-5BD7-4D9C-BBFC-407877B7752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35061" y="176793"/>
            <a:ext cx="9221689" cy="703742"/>
          </a:xfrm>
        </p:spPr>
        <p:txBody>
          <a:bodyPr>
            <a:normAutofit/>
          </a:bodyPr>
          <a:lstStyle/>
          <a:p>
            <a:r>
              <a:rPr lang="ru-RU" sz="3600" dirty="0">
                <a:solidFill>
                  <a:schemeClr val="bg2">
                    <a:lumMod val="2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Фиксированные значения и условия</a:t>
            </a:r>
            <a:r>
              <a:rPr lang="en-US" sz="3600" dirty="0">
                <a:solidFill>
                  <a:schemeClr val="bg2">
                    <a:lumMod val="2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:</a:t>
            </a:r>
            <a:endParaRPr lang="ru-RU" sz="3600" dirty="0">
              <a:solidFill>
                <a:schemeClr val="bg2">
                  <a:lumMod val="25000"/>
                </a:schemeClr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2417E645-FBFC-4179-B205-BCEA75B1970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69333" y="1106311"/>
            <a:ext cx="10272889" cy="6052383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ru-RU" sz="2000" b="0" dirty="0">
                <a:solidFill>
                  <a:schemeClr val="bg2">
                    <a:lumMod val="25000"/>
                  </a:schemeClr>
                </a:solidFill>
                <a:effectLst/>
                <a:latin typeface="Consolas" panose="020B0609020204030204" pitchFamily="49" charset="0"/>
              </a:rPr>
              <a:t>Земные константы</a:t>
            </a:r>
          </a:p>
          <a:p>
            <a:pPr marL="0" indent="0">
              <a:buNone/>
            </a:pPr>
            <a:endParaRPr lang="ru-RU" sz="2000" dirty="0">
              <a:solidFill>
                <a:srgbClr val="9CDCFE"/>
              </a:solidFill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en-US" sz="2000" b="0" dirty="0" err="1">
                <a:solidFill>
                  <a:srgbClr val="00B0F0"/>
                </a:solidFill>
                <a:effectLst/>
                <a:latin typeface="Consolas" panose="020B0609020204030204" pitchFamily="49" charset="0"/>
              </a:rPr>
              <a:t>payloadMass</a:t>
            </a:r>
            <a:r>
              <a:rPr lang="en-US" sz="20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: </a:t>
            </a:r>
            <a:r>
              <a:rPr lang="en-US" sz="2000" b="0" dirty="0">
                <a:solidFill>
                  <a:srgbClr val="92D050"/>
                </a:solidFill>
                <a:effectLst/>
                <a:latin typeface="Consolas" panose="020B0609020204030204" pitchFamily="49" charset="0"/>
              </a:rPr>
              <a:t>5000.0</a:t>
            </a:r>
            <a:r>
              <a:rPr lang="en-US" sz="20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     </a:t>
            </a:r>
            <a:r>
              <a:rPr lang="en-US" sz="20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# </a:t>
            </a:r>
            <a:r>
              <a:rPr lang="ru-RU" sz="20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кг</a:t>
            </a:r>
          </a:p>
          <a:p>
            <a:pPr marL="0" indent="0">
              <a:buNone/>
            </a:pPr>
            <a:r>
              <a:rPr lang="en-US" sz="2000" b="0" dirty="0" err="1">
                <a:solidFill>
                  <a:srgbClr val="00B0F0"/>
                </a:solidFill>
                <a:effectLst/>
                <a:latin typeface="Consolas" panose="020B0609020204030204" pitchFamily="49" charset="0"/>
              </a:rPr>
              <a:t>initialAltitude</a:t>
            </a:r>
            <a:r>
              <a:rPr lang="en-US" sz="20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: </a:t>
            </a:r>
            <a:r>
              <a:rPr lang="en-US" sz="2000" b="0" dirty="0">
                <a:solidFill>
                  <a:srgbClr val="92D050"/>
                </a:solidFill>
                <a:effectLst/>
                <a:latin typeface="Consolas" panose="020B0609020204030204" pitchFamily="49" charset="0"/>
              </a:rPr>
              <a:t>0.0</a:t>
            </a:r>
            <a:r>
              <a:rPr lang="en-US" sz="20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</a:t>
            </a:r>
          </a:p>
          <a:p>
            <a:pPr marL="0" indent="0">
              <a:buNone/>
            </a:pPr>
            <a:endParaRPr lang="en-US" sz="2000" b="0" dirty="0">
              <a:solidFill>
                <a:srgbClr val="B5CEA8"/>
              </a:solidFill>
              <a:effectLst/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en-US" sz="2000" b="0" dirty="0" err="1">
                <a:solidFill>
                  <a:srgbClr val="00B0F0"/>
                </a:solidFill>
                <a:effectLst/>
                <a:latin typeface="Consolas" panose="020B0609020204030204" pitchFamily="49" charset="0"/>
              </a:rPr>
              <a:t>dragCoefficient</a:t>
            </a:r>
            <a:r>
              <a:rPr lang="en-US" sz="20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: </a:t>
            </a:r>
            <a:r>
              <a:rPr lang="en-US" sz="2000" b="0" dirty="0">
                <a:solidFill>
                  <a:srgbClr val="92D050"/>
                </a:solidFill>
                <a:effectLst/>
                <a:latin typeface="Consolas" panose="020B0609020204030204" pitchFamily="49" charset="0"/>
              </a:rPr>
              <a:t>0.35</a:t>
            </a:r>
          </a:p>
          <a:p>
            <a:pPr marL="0" indent="0">
              <a:buNone/>
            </a:pPr>
            <a:r>
              <a:rPr lang="en-US" sz="2000" b="0" dirty="0" err="1">
                <a:solidFill>
                  <a:srgbClr val="00B0F0"/>
                </a:solidFill>
                <a:effectLst/>
                <a:latin typeface="Consolas" panose="020B0609020204030204" pitchFamily="49" charset="0"/>
              </a:rPr>
              <a:t>referenceArea</a:t>
            </a:r>
            <a:r>
              <a:rPr lang="en-US" sz="20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: </a:t>
            </a:r>
            <a:r>
              <a:rPr lang="en-US" sz="2000" b="0" dirty="0">
                <a:solidFill>
                  <a:srgbClr val="92D050"/>
                </a:solidFill>
                <a:effectLst/>
                <a:latin typeface="Consolas" panose="020B0609020204030204" pitchFamily="49" charset="0"/>
              </a:rPr>
              <a:t>20.0</a:t>
            </a:r>
            <a:endParaRPr lang="ru-RU" sz="2000" b="0" dirty="0">
              <a:solidFill>
                <a:srgbClr val="92D050"/>
              </a:solidFill>
              <a:effectLst/>
              <a:latin typeface="Consolas" panose="020B0609020204030204" pitchFamily="49" charset="0"/>
            </a:endParaRPr>
          </a:p>
          <a:p>
            <a:pPr marL="0" indent="0">
              <a:buNone/>
            </a:pPr>
            <a:endParaRPr lang="en-US" sz="20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en-US" sz="2000" b="0" dirty="0" err="1">
                <a:solidFill>
                  <a:srgbClr val="00B0F0"/>
                </a:solidFill>
                <a:effectLst/>
                <a:latin typeface="Consolas" panose="020B0609020204030204" pitchFamily="49" charset="0"/>
              </a:rPr>
              <a:t>veGrid</a:t>
            </a:r>
            <a:r>
              <a:rPr lang="en-US" sz="20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20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sz="20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[</a:t>
            </a:r>
            <a:r>
              <a:rPr lang="en-US" sz="2000" b="0" dirty="0">
                <a:solidFill>
                  <a:srgbClr val="92D050"/>
                </a:solidFill>
                <a:effectLst/>
                <a:latin typeface="Consolas" panose="020B0609020204030204" pitchFamily="49" charset="0"/>
              </a:rPr>
              <a:t>2100.0</a:t>
            </a:r>
            <a:r>
              <a:rPr lang="en-US" sz="20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2000" b="0" dirty="0">
                <a:solidFill>
                  <a:srgbClr val="92D050"/>
                </a:solidFill>
                <a:effectLst/>
                <a:latin typeface="Consolas" panose="020B0609020204030204" pitchFamily="49" charset="0"/>
              </a:rPr>
              <a:t>3100.0</a:t>
            </a:r>
            <a:r>
              <a:rPr lang="en-US" sz="20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2000" b="0" dirty="0">
                <a:solidFill>
                  <a:srgbClr val="92D050"/>
                </a:solidFill>
                <a:effectLst/>
                <a:latin typeface="Consolas" panose="020B0609020204030204" pitchFamily="49" charset="0"/>
              </a:rPr>
              <a:t>4100.0</a:t>
            </a:r>
            <a:r>
              <a:rPr lang="en-US" sz="20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]   </a:t>
            </a:r>
            <a:r>
              <a:rPr lang="en-US" sz="20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# </a:t>
            </a:r>
            <a:r>
              <a:rPr lang="ru-RU" sz="20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м/с</a:t>
            </a:r>
            <a:endParaRPr lang="ru-RU" sz="20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en-US" sz="2000" b="0" dirty="0" err="1">
                <a:solidFill>
                  <a:srgbClr val="00B0F0"/>
                </a:solidFill>
                <a:effectLst/>
                <a:latin typeface="Consolas" panose="020B0609020204030204" pitchFamily="49" charset="0"/>
              </a:rPr>
              <a:t>thrustGrid</a:t>
            </a:r>
            <a:r>
              <a:rPr lang="en-US" sz="20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20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sz="20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[</a:t>
            </a:r>
            <a:r>
              <a:rPr lang="en-US" sz="2000" b="0" dirty="0">
                <a:solidFill>
                  <a:srgbClr val="92D050"/>
                </a:solidFill>
                <a:effectLst/>
                <a:latin typeface="Consolas" panose="020B0609020204030204" pitchFamily="49" charset="0"/>
              </a:rPr>
              <a:t>3e6</a:t>
            </a:r>
            <a:r>
              <a:rPr lang="en-US" sz="20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2000" b="0" dirty="0">
                <a:solidFill>
                  <a:srgbClr val="92D050"/>
                </a:solidFill>
                <a:effectLst/>
                <a:latin typeface="Consolas" panose="020B0609020204030204" pitchFamily="49" charset="0"/>
              </a:rPr>
              <a:t>4e6</a:t>
            </a:r>
            <a:r>
              <a:rPr lang="en-US" sz="20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2000" b="0" dirty="0">
                <a:solidFill>
                  <a:srgbClr val="92D050"/>
                </a:solidFill>
                <a:effectLst/>
                <a:latin typeface="Consolas" panose="020B0609020204030204" pitchFamily="49" charset="0"/>
              </a:rPr>
              <a:t>5e6</a:t>
            </a:r>
            <a:r>
              <a:rPr lang="en-US" sz="20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]        </a:t>
            </a:r>
            <a:r>
              <a:rPr lang="en-US" sz="20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# </a:t>
            </a:r>
            <a:r>
              <a:rPr lang="ru-RU" sz="20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Н</a:t>
            </a:r>
            <a:endParaRPr lang="ru-RU" sz="20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 marL="0" indent="0">
              <a:buNone/>
            </a:pPr>
            <a:br>
              <a:rPr lang="ru-RU" sz="20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</a:br>
            <a:r>
              <a:rPr lang="en-US" sz="2000" b="0" dirty="0" err="1">
                <a:solidFill>
                  <a:srgbClr val="00B0F0"/>
                </a:solidFill>
                <a:effectLst/>
                <a:latin typeface="Consolas" panose="020B0609020204030204" pitchFamily="49" charset="0"/>
              </a:rPr>
              <a:t>baseThrustRatios</a:t>
            </a:r>
            <a:r>
              <a:rPr lang="en-US" sz="20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20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sz="20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[</a:t>
            </a:r>
            <a:r>
              <a:rPr lang="en-US" sz="2000" b="0" dirty="0">
                <a:solidFill>
                  <a:srgbClr val="92D050"/>
                </a:solidFill>
                <a:effectLst/>
                <a:latin typeface="Consolas" panose="020B0609020204030204" pitchFamily="49" charset="0"/>
              </a:rPr>
              <a:t>1.0</a:t>
            </a:r>
            <a:r>
              <a:rPr lang="en-US" sz="20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2000" b="0" dirty="0">
                <a:solidFill>
                  <a:srgbClr val="92D050"/>
                </a:solidFill>
                <a:effectLst/>
                <a:latin typeface="Consolas" panose="020B0609020204030204" pitchFamily="49" charset="0"/>
              </a:rPr>
              <a:t>0.3</a:t>
            </a:r>
            <a:r>
              <a:rPr lang="en-US" sz="20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2000" b="0" dirty="0">
                <a:solidFill>
                  <a:srgbClr val="92D050"/>
                </a:solidFill>
                <a:effectLst/>
                <a:latin typeface="Consolas" panose="020B0609020204030204" pitchFamily="49" charset="0"/>
              </a:rPr>
              <a:t>0.1</a:t>
            </a:r>
            <a:r>
              <a:rPr lang="en-US" sz="20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2000" b="0" dirty="0">
                <a:solidFill>
                  <a:srgbClr val="92D050"/>
                </a:solidFill>
                <a:effectLst/>
                <a:latin typeface="Consolas" panose="020B0609020204030204" pitchFamily="49" charset="0"/>
              </a:rPr>
              <a:t>0.03</a:t>
            </a:r>
            <a:r>
              <a:rPr lang="en-US" sz="20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]  </a:t>
            </a:r>
            <a:r>
              <a:rPr lang="en-US" sz="20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# Stage1, Stage2 ...</a:t>
            </a:r>
            <a:endParaRPr lang="en-US" sz="20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en-US" sz="2000" b="0" dirty="0" err="1">
                <a:solidFill>
                  <a:srgbClr val="00B0F0"/>
                </a:solidFill>
                <a:effectLst/>
                <a:latin typeface="Consolas" panose="020B0609020204030204" pitchFamily="49" charset="0"/>
              </a:rPr>
              <a:t>baseVeRatios</a:t>
            </a:r>
            <a:r>
              <a:rPr lang="en-US" sz="20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20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sz="20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[</a:t>
            </a:r>
            <a:r>
              <a:rPr lang="en-US" sz="2000" b="0" dirty="0">
                <a:solidFill>
                  <a:srgbClr val="92D050"/>
                </a:solidFill>
                <a:effectLst/>
                <a:latin typeface="Consolas" panose="020B0609020204030204" pitchFamily="49" charset="0"/>
              </a:rPr>
              <a:t>1.0</a:t>
            </a:r>
            <a:r>
              <a:rPr lang="en-US" sz="20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2000" b="0" dirty="0">
                <a:solidFill>
                  <a:srgbClr val="92D050"/>
                </a:solidFill>
                <a:effectLst/>
                <a:latin typeface="Consolas" panose="020B0609020204030204" pitchFamily="49" charset="0"/>
              </a:rPr>
              <a:t>1.16</a:t>
            </a:r>
            <a:r>
              <a:rPr lang="en-US" sz="20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2000" b="0" dirty="0">
                <a:solidFill>
                  <a:srgbClr val="92D050"/>
                </a:solidFill>
                <a:effectLst/>
                <a:latin typeface="Consolas" panose="020B0609020204030204" pitchFamily="49" charset="0"/>
              </a:rPr>
              <a:t>1.45</a:t>
            </a:r>
            <a:r>
              <a:rPr lang="en-US" sz="20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2000" b="0" dirty="0">
                <a:solidFill>
                  <a:srgbClr val="92D050"/>
                </a:solidFill>
                <a:effectLst/>
                <a:latin typeface="Consolas" panose="020B0609020204030204" pitchFamily="49" charset="0"/>
              </a:rPr>
              <a:t>1.65</a:t>
            </a:r>
            <a:r>
              <a:rPr lang="en-US" sz="20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]</a:t>
            </a:r>
            <a:endParaRPr lang="ru-RU" sz="20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 marL="0" indent="0">
              <a:buNone/>
            </a:pPr>
            <a:endParaRPr lang="ru-RU" sz="2000" dirty="0">
              <a:solidFill>
                <a:srgbClr val="CCCCCC"/>
              </a:solidFill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ru-RU" sz="2000" b="0" dirty="0">
                <a:solidFill>
                  <a:schemeClr val="bg2">
                    <a:lumMod val="25000"/>
                  </a:schemeClr>
                </a:solidFill>
                <a:effectLst/>
                <a:latin typeface="Consolas" panose="020B0609020204030204" pitchFamily="49" charset="0"/>
              </a:rPr>
              <a:t>Максимизируем итоговую скорость</a:t>
            </a:r>
            <a:endParaRPr lang="en-US" sz="2000" b="0" dirty="0">
              <a:solidFill>
                <a:schemeClr val="bg2">
                  <a:lumMod val="25000"/>
                </a:schemeClr>
              </a:solidFill>
              <a:effectLst/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85915643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3" name="Объект 2">
                <a:extLst>
                  <a:ext uri="{FF2B5EF4-FFF2-40B4-BE49-F238E27FC236}">
                    <a16:creationId xmlns:a16="http://schemas.microsoft.com/office/drawing/2014/main" id="{2417E645-FBFC-4179-B205-BCEA75B1970B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396474" y="345584"/>
                <a:ext cx="3719494" cy="2224913"/>
              </a:xfrm>
              <a:ln>
                <a:solidFill>
                  <a:schemeClr val="tx1">
                    <a:lumMod val="50000"/>
                    <a:lumOff val="50000"/>
                  </a:schemeClr>
                </a:solidFill>
              </a:ln>
            </p:spPr>
            <p:txBody>
              <a:bodyPr>
                <a:normAutofit/>
              </a:bodyPr>
              <a:lstStyle/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spcAft>
                    <a:spcPts val="600"/>
                  </a:spcAft>
                  <a:buNone/>
                </a:pPr>
                <a:r>
                  <a:rPr lang="ru-RU" sz="1800" b="1" dirty="0">
                    <a:solidFill>
                      <a:schemeClr val="bg2">
                        <a:lumMod val="25000"/>
                      </a:schemeClr>
                    </a:solidFill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Массовый расход топлива</a:t>
                </a:r>
                <a:endParaRPr lang="ru-RU" sz="1800" b="1" i="1" dirty="0">
                  <a:effectLst/>
                  <a:latin typeface="Cambria Math" panose="02040503050406030204" pitchFamily="18" charset="0"/>
                  <a:ea typeface="Times New Roman" panose="02020603050405020304" pitchFamily="18" charset="0"/>
                  <a:cs typeface="Calibri" panose="020F0502020204030204" pitchFamily="34" charset="0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spcAft>
                    <a:spcPts val="600"/>
                  </a:spcAft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̇"/>
                          <m:ctrlPr>
                            <a:rPr lang="ru-RU" sz="1800" i="1" smtClean="0">
                              <a:effectLst/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Calibri" panose="020F0502020204030204" pitchFamily="34" charset="0"/>
                            </a:rPr>
                          </m:ctrlPr>
                        </m:accPr>
                        <m:e>
                          <m:r>
                            <a:rPr lang="ru-RU" sz="1800" i="1">
                              <a:effectLst/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Calibri" panose="020F0502020204030204" pitchFamily="34" charset="0"/>
                            </a:rPr>
                            <m:t>𝑚</m:t>
                          </m:r>
                        </m:e>
                      </m:acc>
                      <m:r>
                        <a:rPr lang="ru-RU" sz="1800" i="1">
                          <a:effectLst/>
                          <a:latin typeface="Cambria Math" panose="02040503050406030204" pitchFamily="18" charset="0"/>
                          <a:ea typeface="Times New Roman" panose="02020603050405020304" pitchFamily="18" charset="0"/>
                          <a:cs typeface="Calibri" panose="020F0502020204030204" pitchFamily="34" charset="0"/>
                        </a:rPr>
                        <m:t>=</m:t>
                      </m:r>
                      <m:f>
                        <m:fPr>
                          <m:ctrlPr>
                            <a:rPr lang="ru-RU" sz="1800" i="1">
                              <a:effectLst/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Calibri" panose="020F0502020204030204" pitchFamily="34" charset="0"/>
                            </a:rPr>
                          </m:ctrlPr>
                        </m:fPr>
                        <m:num>
                          <m:r>
                            <a:rPr lang="ru-RU" sz="1800" i="1">
                              <a:effectLst/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Calibri" panose="020F0502020204030204" pitchFamily="34" charset="0"/>
                            </a:rPr>
                            <m:t>𝐹</m:t>
                          </m:r>
                        </m:num>
                        <m:den>
                          <m:sSub>
                            <m:sSubPr>
                              <m:ctrlPr>
                                <a:rPr lang="ru-RU" sz="1800" i="1">
                                  <a:effectLst/>
                                  <a:latin typeface="Cambria Math" panose="02040503050406030204" pitchFamily="18" charset="0"/>
                                  <a:ea typeface="Times New Roman" panose="02020603050405020304" pitchFamily="18" charset="0"/>
                                  <a:cs typeface="Calibri" panose="020F0502020204030204" pitchFamily="34" charset="0"/>
                                </a:rPr>
                              </m:ctrlPr>
                            </m:sSubPr>
                            <m:e>
                              <m:r>
                                <a:rPr lang="ru-RU" sz="1800" i="1">
                                  <a:effectLst/>
                                  <a:latin typeface="Cambria Math" panose="02040503050406030204" pitchFamily="18" charset="0"/>
                                  <a:ea typeface="Times New Roman" panose="02020603050405020304" pitchFamily="18" charset="0"/>
                                  <a:cs typeface="Calibri" panose="020F0502020204030204" pitchFamily="34" charset="0"/>
                                </a:rPr>
                                <m:t>𝑣</m:t>
                              </m:r>
                            </m:e>
                            <m:sub>
                              <m:r>
                                <a:rPr lang="ru-RU" sz="1800" i="1">
                                  <a:effectLst/>
                                  <a:latin typeface="Cambria Math" panose="02040503050406030204" pitchFamily="18" charset="0"/>
                                  <a:ea typeface="Times New Roman" panose="02020603050405020304" pitchFamily="18" charset="0"/>
                                  <a:cs typeface="Calibri" panose="020F0502020204030204" pitchFamily="34" charset="0"/>
                                </a:rPr>
                                <m:t>𝑒</m:t>
                              </m:r>
                            </m:sub>
                          </m:sSub>
                        </m:den>
                      </m:f>
                    </m:oMath>
                  </m:oMathPara>
                </a14:m>
                <a:endParaRPr lang="ru-RU" sz="1800" dirty="0">
                  <a:effectLst/>
                  <a:latin typeface="Times New Roman" panose="02020603050405020304" pitchFamily="18" charset="0"/>
                  <a:ea typeface="Times New Roman" panose="02020603050405020304" pitchFamily="18" charset="0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spcAft>
                    <a:spcPts val="600"/>
                  </a:spcAft>
                  <a:buNone/>
                </a:pPr>
                <a:r>
                  <a:rPr lang="ru-RU" sz="1800" dirty="0">
                    <a:effectLst/>
                    <a:latin typeface="Calibri" panose="020F0502020204030204" pitchFamily="34" charset="0"/>
                    <a:ea typeface="Times New Roman" panose="02020603050405020304" pitchFamily="18" charset="0"/>
                  </a:rPr>
                  <a:t>- </a:t>
                </a:r>
                <a14:m>
                  <m:oMath xmlns:m="http://schemas.openxmlformats.org/officeDocument/2006/math">
                    <m:r>
                      <m:rPr>
                        <m:lit/>
                      </m:rPr>
                      <a:rPr lang="ru-RU" sz="1800" i="1">
                        <a:effectLst/>
                        <a:latin typeface="Cambria Math" panose="02040503050406030204" pitchFamily="18" charset="0"/>
                        <a:ea typeface="Times New Roman" panose="02020603050405020304" pitchFamily="18" charset="0"/>
                        <a:cs typeface="Calibri" panose="020F0502020204030204" pitchFamily="34" charset="0"/>
                      </a:rPr>
                      <m:t>(</m:t>
                    </m:r>
                    <m:acc>
                      <m:accPr>
                        <m:chr m:val="̇"/>
                        <m:ctrlPr>
                          <a:rPr lang="ru-RU" sz="1800" i="1">
                            <a:effectLst/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Calibri" panose="020F0502020204030204" pitchFamily="34" charset="0"/>
                          </a:rPr>
                        </m:ctrlPr>
                      </m:accPr>
                      <m:e>
                        <m:r>
                          <a:rPr lang="ru-RU" sz="1800" i="1">
                            <a:effectLst/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Calibri" panose="020F0502020204030204" pitchFamily="34" charset="0"/>
                          </a:rPr>
                          <m:t>𝑚</m:t>
                        </m:r>
                      </m:e>
                    </m:acc>
                    <m:r>
                      <m:rPr>
                        <m:lit/>
                      </m:rPr>
                      <a:rPr lang="ru-RU" sz="1800" i="1">
                        <a:effectLst/>
                        <a:latin typeface="Cambria Math" panose="02040503050406030204" pitchFamily="18" charset="0"/>
                        <a:ea typeface="Times New Roman" panose="02020603050405020304" pitchFamily="18" charset="0"/>
                        <a:cs typeface="Calibri" panose="020F0502020204030204" pitchFamily="34" charset="0"/>
                      </a:rPr>
                      <m:t>)</m:t>
                    </m:r>
                  </m:oMath>
                </a14:m>
                <a:r>
                  <a:rPr lang="ru-RU" sz="1800" dirty="0">
                    <a:effectLst/>
                    <a:latin typeface="Calibri" panose="020F0502020204030204" pitchFamily="34" charset="0"/>
                    <a:ea typeface="Times New Roman" panose="02020603050405020304" pitchFamily="18" charset="0"/>
                  </a:rPr>
                  <a:t> — массовый расход (кг/с) </a:t>
                </a:r>
                <a:endParaRPr lang="ru-RU" sz="1800" dirty="0">
                  <a:effectLst/>
                  <a:latin typeface="Times New Roman" panose="02020603050405020304" pitchFamily="18" charset="0"/>
                  <a:ea typeface="Times New Roman" panose="02020603050405020304" pitchFamily="18" charset="0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spcAft>
                    <a:spcPts val="600"/>
                  </a:spcAft>
                  <a:buNone/>
                </a:pPr>
                <a:r>
                  <a:rPr lang="ru-RU" sz="1800" dirty="0">
                    <a:effectLst/>
                    <a:latin typeface="Calibri" panose="020F0502020204030204" pitchFamily="34" charset="0"/>
                    <a:ea typeface="Times New Roman" panose="02020603050405020304" pitchFamily="18" charset="0"/>
                  </a:rPr>
                  <a:t>- </a:t>
                </a:r>
                <a14:m>
                  <m:oMath xmlns:m="http://schemas.openxmlformats.org/officeDocument/2006/math">
                    <m:r>
                      <a:rPr lang="ru-RU" sz="1800" i="1">
                        <a:effectLst/>
                        <a:latin typeface="Cambria Math" panose="02040503050406030204" pitchFamily="18" charset="0"/>
                        <a:ea typeface="Times New Roman" panose="02020603050405020304" pitchFamily="18" charset="0"/>
                        <a:cs typeface="Calibri" panose="020F0502020204030204" pitchFamily="34" charset="0"/>
                      </a:rPr>
                      <m:t>(</m:t>
                    </m:r>
                    <m:r>
                      <a:rPr lang="ru-RU" sz="1800" i="1">
                        <a:effectLst/>
                        <a:latin typeface="Cambria Math" panose="02040503050406030204" pitchFamily="18" charset="0"/>
                        <a:ea typeface="Times New Roman" panose="02020603050405020304" pitchFamily="18" charset="0"/>
                        <a:cs typeface="Calibri" panose="020F0502020204030204" pitchFamily="34" charset="0"/>
                      </a:rPr>
                      <m:t>𝐹</m:t>
                    </m:r>
                    <m:r>
                      <m:rPr>
                        <m:lit/>
                      </m:rPr>
                      <a:rPr lang="ru-RU" sz="1800" i="1">
                        <a:effectLst/>
                        <a:latin typeface="Cambria Math" panose="02040503050406030204" pitchFamily="18" charset="0"/>
                        <a:ea typeface="Times New Roman" panose="02020603050405020304" pitchFamily="18" charset="0"/>
                        <a:cs typeface="Calibri" panose="020F0502020204030204" pitchFamily="34" charset="0"/>
                      </a:rPr>
                      <m:t>)</m:t>
                    </m:r>
                  </m:oMath>
                </a14:m>
                <a:r>
                  <a:rPr lang="ru-RU" sz="1800" dirty="0">
                    <a:effectLst/>
                    <a:latin typeface="Calibri" panose="020F0502020204030204" pitchFamily="34" charset="0"/>
                    <a:ea typeface="Times New Roman" panose="02020603050405020304" pitchFamily="18" charset="0"/>
                  </a:rPr>
                  <a:t> — тяга двигателя (Н) </a:t>
                </a:r>
                <a:endParaRPr lang="ru-RU" sz="1800" dirty="0">
                  <a:effectLst/>
                  <a:latin typeface="Times New Roman" panose="02020603050405020304" pitchFamily="18" charset="0"/>
                  <a:ea typeface="Times New Roman" panose="02020603050405020304" pitchFamily="18" charset="0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spcAft>
                    <a:spcPts val="600"/>
                  </a:spcAft>
                  <a:buNone/>
                </a:pPr>
                <a:r>
                  <a:rPr lang="ru-RU" sz="1800" b="0" dirty="0">
                    <a:effectLst/>
                    <a:ea typeface="Times New Roman" panose="02020603050405020304" pitchFamily="18" charset="0"/>
                    <a:cs typeface="Calibri" panose="020F0502020204030204" pitchFamily="34" charset="0"/>
                  </a:rPr>
                  <a:t>-</a:t>
                </a:r>
                <a14:m>
                  <m:oMath xmlns:m="http://schemas.openxmlformats.org/officeDocument/2006/math">
                    <m:r>
                      <a:rPr lang="ru-RU" sz="1800" b="0" i="1" smtClean="0">
                        <a:effectLst/>
                        <a:latin typeface="Cambria Math" panose="02040503050406030204" pitchFamily="18" charset="0"/>
                        <a:ea typeface="Times New Roman" panose="02020603050405020304" pitchFamily="18" charset="0"/>
                        <a:cs typeface="Calibri" panose="020F0502020204030204" pitchFamily="34" charset="0"/>
                      </a:rPr>
                      <m:t> </m:t>
                    </m:r>
                    <m:r>
                      <m:rPr>
                        <m:lit/>
                      </m:rPr>
                      <a:rPr lang="ru-RU" sz="1800" i="1">
                        <a:effectLst/>
                        <a:latin typeface="Cambria Math" panose="02040503050406030204" pitchFamily="18" charset="0"/>
                        <a:ea typeface="Times New Roman" panose="02020603050405020304" pitchFamily="18" charset="0"/>
                        <a:cs typeface="Calibri" panose="020F0502020204030204" pitchFamily="34" charset="0"/>
                      </a:rPr>
                      <m:t>(</m:t>
                    </m:r>
                    <m:sSub>
                      <m:sSubPr>
                        <m:ctrlPr>
                          <a:rPr lang="ru-RU" sz="1800" i="1">
                            <a:effectLst/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Calibri" panose="020F0502020204030204" pitchFamily="34" charset="0"/>
                          </a:rPr>
                        </m:ctrlPr>
                      </m:sSubPr>
                      <m:e>
                        <m:r>
                          <a:rPr lang="ru-RU" sz="1800" i="1">
                            <a:effectLst/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Calibri" panose="020F0502020204030204" pitchFamily="34" charset="0"/>
                          </a:rPr>
                          <m:t>𝑣</m:t>
                        </m:r>
                      </m:e>
                      <m:sub>
                        <m:r>
                          <a:rPr lang="ru-RU" sz="1800" i="1">
                            <a:effectLst/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Calibri" panose="020F0502020204030204" pitchFamily="34" charset="0"/>
                          </a:rPr>
                          <m:t>𝑒</m:t>
                        </m:r>
                      </m:sub>
                    </m:sSub>
                    <m:r>
                      <m:rPr>
                        <m:lit/>
                      </m:rPr>
                      <a:rPr lang="ru-RU" sz="1800" i="1">
                        <a:effectLst/>
                        <a:latin typeface="Cambria Math" panose="02040503050406030204" pitchFamily="18" charset="0"/>
                        <a:ea typeface="Times New Roman" panose="02020603050405020304" pitchFamily="18" charset="0"/>
                        <a:cs typeface="Calibri" panose="020F0502020204030204" pitchFamily="34" charset="0"/>
                      </a:rPr>
                      <m:t>)</m:t>
                    </m:r>
                  </m:oMath>
                </a14:m>
                <a:r>
                  <a:rPr lang="ru-RU" sz="1800" dirty="0">
                    <a:effectLst/>
                    <a:latin typeface="Calibri" panose="020F0502020204030204" pitchFamily="34" charset="0"/>
                    <a:ea typeface="Times New Roman" panose="02020603050405020304" pitchFamily="18" charset="0"/>
                  </a:rPr>
                  <a:t> — скорость истечения (м/с)</a:t>
                </a:r>
              </a:p>
              <a:p>
                <a:pPr>
                  <a:lnSpc>
                    <a:spcPct val="100000"/>
                  </a:lnSpc>
                  <a:spcBef>
                    <a:spcPts val="0"/>
                  </a:spcBef>
                  <a:spcAft>
                    <a:spcPts val="600"/>
                  </a:spcAft>
                  <a:buFontTx/>
                  <a:buChar char="-"/>
                </a:pPr>
                <a:endParaRPr lang="ru-RU" sz="1800" dirty="0">
                  <a:latin typeface="Calibri" panose="020F0502020204030204" pitchFamily="34" charset="0"/>
                  <a:ea typeface="Times New Roman" panose="02020603050405020304" pitchFamily="18" charset="0"/>
                </a:endParaRPr>
              </a:p>
              <a:p>
                <a:pPr>
                  <a:lnSpc>
                    <a:spcPct val="100000"/>
                  </a:lnSpc>
                  <a:spcBef>
                    <a:spcPts val="0"/>
                  </a:spcBef>
                  <a:spcAft>
                    <a:spcPts val="600"/>
                  </a:spcAft>
                  <a:buFontTx/>
                  <a:buChar char="-"/>
                </a:pPr>
                <a:endParaRPr lang="ru-RU" sz="1800" dirty="0">
                  <a:effectLst/>
                  <a:latin typeface="Times New Roman" panose="02020603050405020304" pitchFamily="18" charset="0"/>
                  <a:ea typeface="Times New Roman" panose="02020603050405020304" pitchFamily="18" charset="0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:endParaRPr lang="ru-RU" dirty="0"/>
              </a:p>
            </p:txBody>
          </p:sp>
        </mc:Choice>
        <mc:Fallback xmlns="">
          <p:sp>
            <p:nvSpPr>
              <p:cNvPr id="3" name="Объект 2">
                <a:extLst>
                  <a:ext uri="{FF2B5EF4-FFF2-40B4-BE49-F238E27FC236}">
                    <a16:creationId xmlns:a16="http://schemas.microsoft.com/office/drawing/2014/main" id="{2417E645-FBFC-4179-B205-BCEA75B1970B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396474" y="345584"/>
                <a:ext cx="3719494" cy="2224913"/>
              </a:xfrm>
              <a:blipFill>
                <a:blip r:embed="rId2"/>
                <a:stretch>
                  <a:fillRect l="-1144" t="-1362"/>
                </a:stretch>
              </a:blipFill>
              <a:ln>
                <a:solidFill>
                  <a:schemeClr val="tx1">
                    <a:lumMod val="50000"/>
                    <a:lumOff val="50000"/>
                  </a:schemeClr>
                </a:solidFill>
              </a:ln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684BC9F1-2AD5-4AC6-9622-348ABE77C287}"/>
                  </a:ext>
                </a:extLst>
              </p:cNvPr>
              <p:cNvSpPr txBox="1"/>
              <p:nvPr/>
            </p:nvSpPr>
            <p:spPr>
              <a:xfrm>
                <a:off x="4473777" y="285893"/>
                <a:ext cx="5737480" cy="1999137"/>
              </a:xfrm>
              <a:prstGeom prst="rect">
                <a:avLst/>
              </a:prstGeom>
              <a:noFill/>
              <a:ln>
                <a:solidFill>
                  <a:schemeClr val="tx1">
                    <a:lumMod val="50000"/>
                    <a:lumOff val="50000"/>
                  </a:schemeClr>
                </a:solidFill>
              </a:ln>
            </p:spPr>
            <p:txBody>
              <a:bodyPr wrap="square">
                <a:spAutoFit/>
              </a:bodyPr>
              <a:lstStyle/>
              <a:p>
                <a:pPr marL="0" indent="0">
                  <a:spcAft>
                    <a:spcPts val="600"/>
                  </a:spcAft>
                  <a:buNone/>
                </a:pPr>
                <a:r>
                  <a:rPr lang="ru-RU" sz="1800" b="1" dirty="0">
                    <a:effectLst/>
                    <a:latin typeface="Calibri" panose="020F0502020204030204" pitchFamily="34" charset="0"/>
                    <a:ea typeface="Times New Roman" panose="02020603050405020304" pitchFamily="18" charset="0"/>
                  </a:rPr>
                  <a:t>Структурная масса ступени </a:t>
                </a:r>
                <a:endParaRPr lang="ru-RU" sz="1800" dirty="0">
                  <a:effectLst/>
                  <a:latin typeface="Times New Roman" panose="02020603050405020304" pitchFamily="18" charset="0"/>
                  <a:ea typeface="Times New Roman" panose="02020603050405020304" pitchFamily="18" charset="0"/>
                </a:endParaRPr>
              </a:p>
              <a:p>
                <a:pPr marL="0" indent="0">
                  <a:spcAft>
                    <a:spcPts val="600"/>
                  </a:spcAft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ru-RU" sz="1800" i="1">
                              <a:effectLst/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Calibri" panose="020F0502020204030204" pitchFamily="34" charset="0"/>
                            </a:rPr>
                          </m:ctrlPr>
                        </m:sSubPr>
                        <m:e>
                          <m:r>
                            <a:rPr lang="en-US" sz="1800" i="1">
                              <a:effectLst/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Calibri" panose="020F0502020204030204" pitchFamily="34" charset="0"/>
                            </a:rPr>
                            <m:t>𝑚</m:t>
                          </m:r>
                        </m:e>
                        <m:sub>
                          <m:r>
                            <a:rPr lang="en-US" sz="1800" i="1">
                              <a:effectLst/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Calibri" panose="020F0502020204030204" pitchFamily="34" charset="0"/>
                            </a:rPr>
                            <m:t>𝑠</m:t>
                          </m:r>
                        </m:sub>
                      </m:sSub>
                      <m:r>
                        <a:rPr lang="ru-RU" sz="1800" i="1">
                          <a:effectLst/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Calibri" panose="020F0502020204030204" pitchFamily="34" charset="0"/>
                        </a:rPr>
                        <m:t>=</m:t>
                      </m:r>
                      <m:f>
                        <m:fPr>
                          <m:ctrlPr>
                            <a:rPr lang="ru-RU" sz="1800" i="1">
                              <a:effectLst/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Calibri" panose="020F0502020204030204" pitchFamily="34" charset="0"/>
                            </a:rPr>
                          </m:ctrlPr>
                        </m:fPr>
                        <m:num>
                          <m:r>
                            <m:rPr>
                              <m:sty m:val="p"/>
                            </m:rPr>
                            <a:rPr lang="en-US" sz="1800">
                              <a:effectLst/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Calibri" panose="020F0502020204030204" pitchFamily="34" charset="0"/>
                            </a:rPr>
                            <m:t>α</m:t>
                          </m:r>
                        </m:num>
                        <m:den>
                          <m:r>
                            <a:rPr lang="ru-RU" sz="1800" i="1">
                              <a:effectLst/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Calibri" panose="020F0502020204030204" pitchFamily="34" charset="0"/>
                            </a:rPr>
                            <m:t>1−</m:t>
                          </m:r>
                          <m:r>
                            <m:rPr>
                              <m:sty m:val="p"/>
                            </m:rPr>
                            <a:rPr lang="en-US" sz="1800">
                              <a:effectLst/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Calibri" panose="020F0502020204030204" pitchFamily="34" charset="0"/>
                            </a:rPr>
                            <m:t>α</m:t>
                          </m:r>
                        </m:den>
                      </m:f>
                      <m:r>
                        <a:rPr lang="ru-RU" sz="1800">
                          <a:effectLst/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Calibri" panose="020F0502020204030204" pitchFamily="34" charset="0"/>
                        </a:rPr>
                        <m:t>⋅</m:t>
                      </m:r>
                      <m:sSub>
                        <m:sSubPr>
                          <m:ctrlPr>
                            <a:rPr lang="ru-RU" sz="1800" i="1">
                              <a:effectLst/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Calibri" panose="020F0502020204030204" pitchFamily="34" charset="0"/>
                            </a:rPr>
                          </m:ctrlPr>
                        </m:sSubPr>
                        <m:e>
                          <m:r>
                            <a:rPr lang="en-US" sz="1800" i="1">
                              <a:effectLst/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Calibri" panose="020F0502020204030204" pitchFamily="34" charset="0"/>
                            </a:rPr>
                            <m:t>𝑚</m:t>
                          </m:r>
                        </m:e>
                        <m:sub>
                          <m:r>
                            <m:rPr>
                              <m:nor/>
                            </m:rPr>
                            <a:rPr lang="en-US" sz="1800">
                              <a:effectLst/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fuel</m:t>
                          </m:r>
                        </m:sub>
                      </m:sSub>
                    </m:oMath>
                  </m:oMathPara>
                </a14:m>
                <a:endParaRPr lang="ru-RU" sz="1800" dirty="0">
                  <a:effectLst/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  <a:p>
                <a:pPr marL="0" indent="0">
                  <a:spcAft>
                    <a:spcPts val="600"/>
                  </a:spcAft>
                  <a:buNone/>
                </a:pPr>
                <a:r>
                  <a:rPr lang="ru-RU" sz="1800" dirty="0">
                    <a:effectLst/>
                    <a:latin typeface="Calibri" panose="020F0502020204030204" pitchFamily="34" charset="0"/>
                    <a:ea typeface="Times New Roman" panose="02020603050405020304" pitchFamily="18" charset="0"/>
                  </a:rPr>
                  <a:t>- </a:t>
                </a:r>
                <a14:m>
                  <m:oMath xmlns:m="http://schemas.openxmlformats.org/officeDocument/2006/math">
                    <m:r>
                      <m:rPr>
                        <m:lit/>
                      </m:rPr>
                      <a:rPr lang="ru-RU" sz="1800" i="1">
                        <a:effectLst/>
                        <a:latin typeface="Cambria Math" panose="02040503050406030204" pitchFamily="18" charset="0"/>
                        <a:ea typeface="Times New Roman" panose="02020603050405020304" pitchFamily="18" charset="0"/>
                        <a:cs typeface="Calibri" panose="020F0502020204030204" pitchFamily="34" charset="0"/>
                      </a:rPr>
                      <m:t>(</m:t>
                    </m:r>
                    <m:sSub>
                      <m:sSubPr>
                        <m:ctrlPr>
                          <a:rPr lang="ru-RU" sz="1800" i="1">
                            <a:effectLst/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Calibri" panose="020F0502020204030204" pitchFamily="34" charset="0"/>
                          </a:rPr>
                        </m:ctrlPr>
                      </m:sSubPr>
                      <m:e>
                        <m:r>
                          <a:rPr lang="ru-RU" sz="1800" i="1">
                            <a:effectLst/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Calibri" panose="020F0502020204030204" pitchFamily="34" charset="0"/>
                          </a:rPr>
                          <m:t>𝑚</m:t>
                        </m:r>
                      </m:e>
                      <m:sub>
                        <m:r>
                          <a:rPr lang="ru-RU" sz="1800" i="1">
                            <a:effectLst/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Calibri" panose="020F0502020204030204" pitchFamily="34" charset="0"/>
                          </a:rPr>
                          <m:t>𝑠</m:t>
                        </m:r>
                      </m:sub>
                    </m:sSub>
                    <m:r>
                      <m:rPr>
                        <m:lit/>
                      </m:rPr>
                      <a:rPr lang="ru-RU" sz="1800" i="1">
                        <a:effectLst/>
                        <a:latin typeface="Cambria Math" panose="02040503050406030204" pitchFamily="18" charset="0"/>
                        <a:ea typeface="Times New Roman" panose="02020603050405020304" pitchFamily="18" charset="0"/>
                        <a:cs typeface="Calibri" panose="020F0502020204030204" pitchFamily="34" charset="0"/>
                      </a:rPr>
                      <m:t>)</m:t>
                    </m:r>
                  </m:oMath>
                </a14:m>
                <a:r>
                  <a:rPr lang="ru-RU" sz="1800" dirty="0">
                    <a:effectLst/>
                    <a:latin typeface="Calibri" panose="020F0502020204030204" pitchFamily="34" charset="0"/>
                    <a:ea typeface="Times New Roman" panose="02020603050405020304" pitchFamily="18" charset="0"/>
                  </a:rPr>
                  <a:t> — структурная масса (кг) </a:t>
                </a:r>
                <a:endParaRPr lang="ru-RU" sz="1800" dirty="0">
                  <a:effectLst/>
                  <a:latin typeface="Times New Roman" panose="02020603050405020304" pitchFamily="18" charset="0"/>
                  <a:ea typeface="Times New Roman" panose="02020603050405020304" pitchFamily="18" charset="0"/>
                </a:endParaRPr>
              </a:p>
              <a:p>
                <a:pPr marL="0" indent="0">
                  <a:spcAft>
                    <a:spcPts val="600"/>
                  </a:spcAft>
                  <a:buNone/>
                </a:pPr>
                <a:r>
                  <a:rPr lang="ru-RU" sz="1800" dirty="0">
                    <a:effectLst/>
                    <a:latin typeface="Calibri" panose="020F0502020204030204" pitchFamily="34" charset="0"/>
                    <a:ea typeface="Times New Roman" panose="02020603050405020304" pitchFamily="18" charset="0"/>
                  </a:rPr>
                  <a:t>- </a:t>
                </a:r>
                <a14:m>
                  <m:oMath xmlns:m="http://schemas.openxmlformats.org/officeDocument/2006/math">
                    <m:r>
                      <m:rPr>
                        <m:lit/>
                      </m:rPr>
                      <a:rPr lang="ru-RU" sz="1800" i="1">
                        <a:effectLst/>
                        <a:latin typeface="Cambria Math" panose="02040503050406030204" pitchFamily="18" charset="0"/>
                        <a:ea typeface="Times New Roman" panose="02020603050405020304" pitchFamily="18" charset="0"/>
                        <a:cs typeface="Calibri" panose="020F0502020204030204" pitchFamily="34" charset="0"/>
                      </a:rPr>
                      <m:t>(</m:t>
                    </m:r>
                    <m:r>
                      <m:rPr>
                        <m:sty m:val="p"/>
                      </m:rPr>
                      <a:rPr lang="ru-RU" sz="1800">
                        <a:effectLst/>
                        <a:latin typeface="Cambria Math" panose="02040503050406030204" pitchFamily="18" charset="0"/>
                        <a:ea typeface="Times New Roman" panose="02020603050405020304" pitchFamily="18" charset="0"/>
                        <a:cs typeface="Calibri" panose="020F0502020204030204" pitchFamily="34" charset="0"/>
                      </a:rPr>
                      <m:t>α</m:t>
                    </m:r>
                    <m:r>
                      <m:rPr>
                        <m:lit/>
                      </m:rPr>
                      <a:rPr lang="ru-RU" sz="1800" i="1">
                        <a:effectLst/>
                        <a:latin typeface="Cambria Math" panose="02040503050406030204" pitchFamily="18" charset="0"/>
                        <a:ea typeface="Times New Roman" panose="02020603050405020304" pitchFamily="18" charset="0"/>
                        <a:cs typeface="Calibri" panose="020F0502020204030204" pitchFamily="34" charset="0"/>
                      </a:rPr>
                      <m:t>)</m:t>
                    </m:r>
                  </m:oMath>
                </a14:m>
                <a:r>
                  <a:rPr lang="ru-RU" sz="1800" dirty="0">
                    <a:effectLst/>
                    <a:latin typeface="Calibri" panose="020F0502020204030204" pitchFamily="34" charset="0"/>
                    <a:ea typeface="Times New Roman" panose="02020603050405020304" pitchFamily="18" charset="0"/>
                  </a:rPr>
                  <a:t> — структурная доля (безразмерная, </a:t>
                </a:r>
                <a14:m>
                  <m:oMath xmlns:m="http://schemas.openxmlformats.org/officeDocument/2006/math">
                    <m:r>
                      <m:rPr>
                        <m:lit/>
                      </m:rPr>
                      <a:rPr lang="ru-RU" sz="1800" i="1">
                        <a:effectLst/>
                        <a:latin typeface="Cambria Math" panose="02040503050406030204" pitchFamily="18" charset="0"/>
                        <a:ea typeface="Times New Roman" panose="02020603050405020304" pitchFamily="18" charset="0"/>
                        <a:cs typeface="Calibri" panose="020F0502020204030204" pitchFamily="34" charset="0"/>
                      </a:rPr>
                      <m:t>(</m:t>
                    </m:r>
                    <m:r>
                      <a:rPr lang="ru-RU" sz="1800" i="1">
                        <a:effectLst/>
                        <a:latin typeface="Cambria Math" panose="02040503050406030204" pitchFamily="18" charset="0"/>
                        <a:ea typeface="Times New Roman" panose="02020603050405020304" pitchFamily="18" charset="0"/>
                        <a:cs typeface="Calibri" panose="020F0502020204030204" pitchFamily="34" charset="0"/>
                      </a:rPr>
                      <m:t>0 &lt; </m:t>
                    </m:r>
                    <m:r>
                      <m:rPr>
                        <m:sty m:val="p"/>
                      </m:rPr>
                      <a:rPr lang="ru-RU" sz="1800">
                        <a:effectLst/>
                        <a:latin typeface="Cambria Math" panose="02040503050406030204" pitchFamily="18" charset="0"/>
                        <a:ea typeface="Times New Roman" panose="02020603050405020304" pitchFamily="18" charset="0"/>
                        <a:cs typeface="Calibri" panose="020F0502020204030204" pitchFamily="34" charset="0"/>
                      </a:rPr>
                      <m:t>α</m:t>
                    </m:r>
                    <m:r>
                      <a:rPr lang="ru-RU" sz="1800" i="1">
                        <a:effectLst/>
                        <a:latin typeface="Cambria Math" panose="02040503050406030204" pitchFamily="18" charset="0"/>
                        <a:ea typeface="Times New Roman" panose="02020603050405020304" pitchFamily="18" charset="0"/>
                        <a:cs typeface="Calibri" panose="020F0502020204030204" pitchFamily="34" charset="0"/>
                      </a:rPr>
                      <m:t>&lt; 1</m:t>
                    </m:r>
                    <m:r>
                      <m:rPr>
                        <m:lit/>
                      </m:rPr>
                      <a:rPr lang="ru-RU" sz="1800" i="1">
                        <a:effectLst/>
                        <a:latin typeface="Cambria Math" panose="02040503050406030204" pitchFamily="18" charset="0"/>
                        <a:ea typeface="Times New Roman" panose="02020603050405020304" pitchFamily="18" charset="0"/>
                        <a:cs typeface="Calibri" panose="020F0502020204030204" pitchFamily="34" charset="0"/>
                      </a:rPr>
                      <m:t>)</m:t>
                    </m:r>
                  </m:oMath>
                </a14:m>
                <a:r>
                  <a:rPr lang="ru-RU" sz="1800" dirty="0">
                    <a:effectLst/>
                    <a:latin typeface="Calibri" panose="020F0502020204030204" pitchFamily="34" charset="0"/>
                    <a:ea typeface="Times New Roman" panose="02020603050405020304" pitchFamily="18" charset="0"/>
                  </a:rPr>
                  <a:t>) </a:t>
                </a:r>
                <a:endParaRPr lang="ru-RU" sz="1800" dirty="0">
                  <a:effectLst/>
                  <a:latin typeface="Times New Roman" panose="02020603050405020304" pitchFamily="18" charset="0"/>
                  <a:ea typeface="Times New Roman" panose="02020603050405020304" pitchFamily="18" charset="0"/>
                </a:endParaRPr>
              </a:p>
              <a:p>
                <a:pPr marL="0" indent="0">
                  <a:spcAft>
                    <a:spcPts val="600"/>
                  </a:spcAft>
                  <a:buNone/>
                </a:pPr>
                <a:r>
                  <a:rPr lang="ru-RU" sz="1800" dirty="0">
                    <a:effectLst/>
                    <a:latin typeface="Calibri" panose="020F0502020204030204" pitchFamily="34" charset="0"/>
                    <a:ea typeface="Times New Roman" panose="02020603050405020304" pitchFamily="18" charset="0"/>
                  </a:rPr>
                  <a:t>- </a:t>
                </a:r>
                <a14:m>
                  <m:oMath xmlns:m="http://schemas.openxmlformats.org/officeDocument/2006/math">
                    <m:r>
                      <m:rPr>
                        <m:lit/>
                      </m:rPr>
                      <a:rPr lang="ru-RU" sz="1800" i="1">
                        <a:effectLst/>
                        <a:latin typeface="Cambria Math" panose="02040503050406030204" pitchFamily="18" charset="0"/>
                        <a:ea typeface="Times New Roman" panose="02020603050405020304" pitchFamily="18" charset="0"/>
                        <a:cs typeface="Calibri" panose="020F0502020204030204" pitchFamily="34" charset="0"/>
                      </a:rPr>
                      <m:t>(</m:t>
                    </m:r>
                    <m:sSub>
                      <m:sSubPr>
                        <m:ctrlPr>
                          <a:rPr lang="ru-RU" sz="1800" i="1">
                            <a:effectLst/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Calibri" panose="020F0502020204030204" pitchFamily="34" charset="0"/>
                          </a:rPr>
                        </m:ctrlPr>
                      </m:sSubPr>
                      <m:e>
                        <m:r>
                          <a:rPr lang="ru-RU" sz="1800" i="1">
                            <a:effectLst/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Calibri" panose="020F0502020204030204" pitchFamily="34" charset="0"/>
                          </a:rPr>
                          <m:t>𝑚</m:t>
                        </m:r>
                      </m:e>
                      <m:sub>
                        <m:r>
                          <m:rPr>
                            <m:nor/>
                          </m:rPr>
                          <a:rPr lang="ru-RU" sz="1800">
                            <a:effectLst/>
                            <a:latin typeface="Calibri" panose="020F0502020204030204" pitchFamily="34" charset="0"/>
                            <a:ea typeface="Times New Roman" panose="02020603050405020304" pitchFamily="18" charset="0"/>
                          </a:rPr>
                          <m:t>fuel</m:t>
                        </m:r>
                      </m:sub>
                    </m:sSub>
                    <m:r>
                      <m:rPr>
                        <m:lit/>
                      </m:rPr>
                      <a:rPr lang="ru-RU" sz="1800" i="1">
                        <a:effectLst/>
                        <a:latin typeface="Cambria Math" panose="02040503050406030204" pitchFamily="18" charset="0"/>
                        <a:ea typeface="Times New Roman" panose="02020603050405020304" pitchFamily="18" charset="0"/>
                        <a:cs typeface="Calibri" panose="020F0502020204030204" pitchFamily="34" charset="0"/>
                      </a:rPr>
                      <m:t>)</m:t>
                    </m:r>
                  </m:oMath>
                </a14:m>
                <a:r>
                  <a:rPr lang="ru-RU" sz="1800" dirty="0">
                    <a:effectLst/>
                    <a:latin typeface="Calibri" panose="020F0502020204030204" pitchFamily="34" charset="0"/>
                    <a:ea typeface="Times New Roman" panose="02020603050405020304" pitchFamily="18" charset="0"/>
                  </a:rPr>
                  <a:t> — масса топлива (кг) </a:t>
                </a:r>
                <a:endParaRPr lang="ru-RU" sz="1800" dirty="0">
                  <a:effectLst/>
                  <a:latin typeface="Times New Roman" panose="02020603050405020304" pitchFamily="18" charset="0"/>
                  <a:ea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684BC9F1-2AD5-4AC6-9622-348ABE77C28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473777" y="285893"/>
                <a:ext cx="5737480" cy="1999137"/>
              </a:xfrm>
              <a:prstGeom prst="rect">
                <a:avLst/>
              </a:prstGeom>
              <a:blipFill>
                <a:blip r:embed="rId3"/>
                <a:stretch>
                  <a:fillRect l="-848" t="-1515" b="-3030"/>
                </a:stretch>
              </a:blipFill>
              <a:ln>
                <a:solidFill>
                  <a:schemeClr val="tx1">
                    <a:lumMod val="50000"/>
                    <a:lumOff val="50000"/>
                  </a:schemeClr>
                </a:solidFill>
              </a:ln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FF2040B8-EC3E-4372-8C9D-722ACE00D3B5}"/>
                  </a:ext>
                </a:extLst>
              </p:cNvPr>
              <p:cNvSpPr txBox="1"/>
              <p:nvPr/>
            </p:nvSpPr>
            <p:spPr>
              <a:xfrm>
                <a:off x="514342" y="5478105"/>
                <a:ext cx="4199340" cy="1547924"/>
              </a:xfrm>
              <a:prstGeom prst="rect">
                <a:avLst/>
              </a:prstGeom>
              <a:noFill/>
              <a:ln>
                <a:solidFill>
                  <a:schemeClr val="tx1">
                    <a:lumMod val="50000"/>
                    <a:lumOff val="50000"/>
                  </a:schemeClr>
                </a:solidFill>
              </a:ln>
            </p:spPr>
            <p:txBody>
              <a:bodyPr wrap="square">
                <a:spAutoFit/>
              </a:bodyPr>
              <a:lstStyle/>
              <a:p>
                <a:pPr>
                  <a:spcAft>
                    <a:spcPts val="600"/>
                  </a:spcAft>
                </a:pPr>
                <a:r>
                  <a:rPr lang="ru-RU" sz="1800" b="1" dirty="0">
                    <a:effectLst/>
                    <a:latin typeface="Calibri" panose="020F0502020204030204" pitchFamily="34" charset="0"/>
                    <a:ea typeface="Times New Roman" panose="02020603050405020304" pitchFamily="18" charset="0"/>
                  </a:rPr>
                  <a:t>Текущая масса всей ракеты</a:t>
                </a:r>
                <a:endParaRPr lang="ru-RU" sz="1800" dirty="0">
                  <a:effectLst/>
                  <a:latin typeface="Times New Roman" panose="02020603050405020304" pitchFamily="18" charset="0"/>
                  <a:ea typeface="Times New Roman" panose="02020603050405020304" pitchFamily="18" charset="0"/>
                </a:endParaRPr>
              </a:p>
              <a:p>
                <a:pPr>
                  <a:spcAft>
                    <a:spcPts val="600"/>
                  </a:spcAft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ru-RU" sz="1800" i="1">
                              <a:effectLst/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Calibri" panose="020F0502020204030204" pitchFamily="34" charset="0"/>
                            </a:rPr>
                          </m:ctrlPr>
                        </m:sSubPr>
                        <m:e>
                          <m:r>
                            <a:rPr lang="ru-RU" sz="1800" i="1">
                              <a:effectLst/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Calibri" panose="020F0502020204030204" pitchFamily="34" charset="0"/>
                            </a:rPr>
                            <m:t>𝑚</m:t>
                          </m:r>
                        </m:e>
                        <m:sub>
                          <m:r>
                            <m:rPr>
                              <m:nor/>
                            </m:rPr>
                            <a:rPr lang="ru-RU" sz="1800">
                              <a:effectLst/>
                              <a:latin typeface="Calibri" panose="020F0502020204030204" pitchFamily="34" charset="0"/>
                              <a:ea typeface="Times New Roman" panose="02020603050405020304" pitchFamily="18" charset="0"/>
                            </a:rPr>
                            <m:t>rocket</m:t>
                          </m:r>
                        </m:sub>
                      </m:sSub>
                      <m:r>
                        <a:rPr lang="ru-RU" sz="1800" i="1">
                          <a:effectLst/>
                          <a:latin typeface="Cambria Math" panose="02040503050406030204" pitchFamily="18" charset="0"/>
                          <a:ea typeface="Times New Roman" panose="02020603050405020304" pitchFamily="18" charset="0"/>
                          <a:cs typeface="Calibri" panose="020F0502020204030204" pitchFamily="34" charset="0"/>
                        </a:rPr>
                        <m:t>=</m:t>
                      </m:r>
                      <m:sSub>
                        <m:sSubPr>
                          <m:ctrlPr>
                            <a:rPr lang="ru-RU" sz="1800" i="1">
                              <a:effectLst/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Calibri" panose="020F0502020204030204" pitchFamily="34" charset="0"/>
                            </a:rPr>
                          </m:ctrlPr>
                        </m:sSubPr>
                        <m:e>
                          <m:r>
                            <a:rPr lang="ru-RU" sz="1800" i="1">
                              <a:effectLst/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Calibri" panose="020F0502020204030204" pitchFamily="34" charset="0"/>
                            </a:rPr>
                            <m:t>𝑚</m:t>
                          </m:r>
                        </m:e>
                        <m:sub>
                          <m:r>
                            <m:rPr>
                              <m:nor/>
                            </m:rPr>
                            <a:rPr lang="ru-RU" sz="1800">
                              <a:effectLst/>
                              <a:latin typeface="Calibri" panose="020F0502020204030204" pitchFamily="34" charset="0"/>
                              <a:ea typeface="Times New Roman" panose="02020603050405020304" pitchFamily="18" charset="0"/>
                            </a:rPr>
                            <m:t>payload</m:t>
                          </m:r>
                        </m:sub>
                      </m:sSub>
                      <m:r>
                        <a:rPr lang="ru-RU" sz="1800" i="1">
                          <a:effectLst/>
                          <a:latin typeface="Cambria Math" panose="02040503050406030204" pitchFamily="18" charset="0"/>
                          <a:ea typeface="Times New Roman" panose="02020603050405020304" pitchFamily="18" charset="0"/>
                          <a:cs typeface="Calibri" panose="020F0502020204030204" pitchFamily="34" charset="0"/>
                        </a:rPr>
                        <m:t>+</m:t>
                      </m:r>
                      <m:nary>
                        <m:naryPr>
                          <m:chr m:val="∑"/>
                          <m:subHide m:val="on"/>
                          <m:supHide m:val="on"/>
                          <m:ctrlPr>
                            <a:rPr lang="ru-RU" sz="1800" i="1">
                              <a:effectLst/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Calibri" panose="020F0502020204030204" pitchFamily="34" charset="0"/>
                            </a:rPr>
                          </m:ctrlPr>
                        </m:naryPr>
                        <m:sub/>
                        <m:sup/>
                        <m:e>
                          <m:sSub>
                            <m:sSubPr>
                              <m:ctrlPr>
                                <a:rPr lang="ru-RU" sz="1800" i="1">
                                  <a:effectLst/>
                                  <a:latin typeface="Cambria Math" panose="02040503050406030204" pitchFamily="18" charset="0"/>
                                  <a:ea typeface="Times New Roman" panose="02020603050405020304" pitchFamily="18" charset="0"/>
                                  <a:cs typeface="Calibri" panose="020F0502020204030204" pitchFamily="34" charset="0"/>
                                </a:rPr>
                              </m:ctrlPr>
                            </m:sSubPr>
                            <m:e>
                              <m:r>
                                <a:rPr lang="ru-RU" sz="1800" i="1">
                                  <a:effectLst/>
                                  <a:latin typeface="Cambria Math" panose="02040503050406030204" pitchFamily="18" charset="0"/>
                                  <a:ea typeface="Times New Roman" panose="02020603050405020304" pitchFamily="18" charset="0"/>
                                  <a:cs typeface="Calibri" panose="020F0502020204030204" pitchFamily="34" charset="0"/>
                                </a:rPr>
                                <m:t>𝑚</m:t>
                              </m:r>
                            </m:e>
                            <m:sub>
                              <m:r>
                                <m:rPr>
                                  <m:nor/>
                                </m:rPr>
                                <a:rPr lang="ru-RU" sz="1800">
                                  <a:effectLst/>
                                  <a:latin typeface="Calibri" panose="020F0502020204030204" pitchFamily="34" charset="0"/>
                                  <a:ea typeface="Times New Roman" panose="02020603050405020304" pitchFamily="18" charset="0"/>
                                </a:rPr>
                                <m:t>stage</m:t>
                              </m:r>
                              <m:r>
                                <a:rPr lang="ru-RU" sz="1800" i="1">
                                  <a:effectLst/>
                                  <a:latin typeface="Cambria Math" panose="02040503050406030204" pitchFamily="18" charset="0"/>
                                  <a:ea typeface="Times New Roman" panose="02020603050405020304" pitchFamily="18" charset="0"/>
                                  <a:cs typeface="Calibri" panose="020F0502020204030204" pitchFamily="34" charset="0"/>
                                </a:rPr>
                                <m:t>,</m:t>
                              </m:r>
                              <m:r>
                                <a:rPr lang="ru-RU" sz="1800" i="1">
                                  <a:effectLst/>
                                  <a:latin typeface="Cambria Math" panose="02040503050406030204" pitchFamily="18" charset="0"/>
                                  <a:ea typeface="Times New Roman" panose="02020603050405020304" pitchFamily="18" charset="0"/>
                                  <a:cs typeface="Calibri" panose="020F0502020204030204" pitchFamily="34" charset="0"/>
                                </a:rPr>
                                <m:t>𝑖</m:t>
                              </m:r>
                            </m:sub>
                          </m:sSub>
                          <m:d>
                            <m:dPr>
                              <m:ctrlPr>
                                <a:rPr lang="ru-RU" sz="1800" i="1">
                                  <a:effectLst/>
                                  <a:latin typeface="Cambria Math" panose="02040503050406030204" pitchFamily="18" charset="0"/>
                                  <a:ea typeface="Times New Roman" panose="02020603050405020304" pitchFamily="18" charset="0"/>
                                  <a:cs typeface="Calibri" panose="020F0502020204030204" pitchFamily="34" charset="0"/>
                                </a:rPr>
                              </m:ctrlPr>
                            </m:dPr>
                            <m:e>
                              <m:r>
                                <a:rPr lang="ru-RU" sz="1800" i="1">
                                  <a:effectLst/>
                                  <a:latin typeface="Cambria Math" panose="02040503050406030204" pitchFamily="18" charset="0"/>
                                  <a:ea typeface="Times New Roman" panose="02020603050405020304" pitchFamily="18" charset="0"/>
                                  <a:cs typeface="Calibri" panose="020F0502020204030204" pitchFamily="34" charset="0"/>
                                </a:rPr>
                                <m:t>𝑡</m:t>
                              </m:r>
                            </m:e>
                          </m:d>
                        </m:e>
                      </m:nary>
                    </m:oMath>
                  </m:oMathPara>
                </a14:m>
                <a:endParaRPr lang="ru-RU" sz="1800" i="1" dirty="0">
                  <a:effectLst/>
                  <a:latin typeface="Cambria Math" panose="02040503050406030204" pitchFamily="18" charset="0"/>
                  <a:ea typeface="Times New Roman" panose="02020603050405020304" pitchFamily="18" charset="0"/>
                  <a:cs typeface="Calibri" panose="020F0502020204030204" pitchFamily="34" charset="0"/>
                </a:endParaRPr>
              </a:p>
              <a:p>
                <a:pPr>
                  <a:spcAft>
                    <a:spcPts val="600"/>
                  </a:spcAft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ru-RU" sz="1800" i="1">
                              <a:effectLst/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Calibri" panose="020F0502020204030204" pitchFamily="34" charset="0"/>
                            </a:rPr>
                          </m:ctrlPr>
                        </m:dPr>
                        <m:e>
                          <m:r>
                            <m:rPr>
                              <m:nor/>
                            </m:rPr>
                            <a:rPr lang="ru-RU" sz="1800">
                              <a:effectLst/>
                              <a:latin typeface="Calibri" panose="020F0502020204030204" pitchFamily="34" charset="0"/>
                              <a:ea typeface="Times New Roman" panose="02020603050405020304" pitchFamily="18" charset="0"/>
                            </a:rPr>
                            <m:t>только активные ступени</m:t>
                          </m:r>
                        </m:e>
                      </m:d>
                    </m:oMath>
                  </m:oMathPara>
                </a14:m>
                <a:endParaRPr lang="ru-RU" sz="1800" dirty="0">
                  <a:effectLst/>
                  <a:latin typeface="Times New Roman" panose="02020603050405020304" pitchFamily="18" charset="0"/>
                  <a:ea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FF2040B8-EC3E-4372-8C9D-722ACE00D3B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14342" y="5478105"/>
                <a:ext cx="4199340" cy="1547924"/>
              </a:xfrm>
              <a:prstGeom prst="rect">
                <a:avLst/>
              </a:prstGeom>
              <a:blipFill>
                <a:blip r:embed="rId4"/>
                <a:stretch>
                  <a:fillRect l="-1013" t="-1953"/>
                </a:stretch>
              </a:blipFill>
              <a:ln>
                <a:solidFill>
                  <a:schemeClr val="tx1">
                    <a:lumMod val="50000"/>
                    <a:lumOff val="50000"/>
                  </a:schemeClr>
                </a:solidFill>
              </a:ln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F9A8D2F5-1A89-4C11-8C03-71C5DFB9CB62}"/>
                  </a:ext>
                </a:extLst>
              </p:cNvPr>
              <p:cNvSpPr txBox="1"/>
              <p:nvPr/>
            </p:nvSpPr>
            <p:spPr>
              <a:xfrm>
                <a:off x="396474" y="2905875"/>
                <a:ext cx="4511857" cy="1911292"/>
              </a:xfrm>
              <a:prstGeom prst="rect">
                <a:avLst/>
              </a:prstGeom>
              <a:noFill/>
              <a:ln>
                <a:solidFill>
                  <a:schemeClr val="tx1">
                    <a:lumMod val="50000"/>
                    <a:lumOff val="50000"/>
                  </a:schemeClr>
                </a:solidFill>
              </a:ln>
            </p:spPr>
            <p:txBody>
              <a:bodyPr wrap="square">
                <a:spAutoFit/>
              </a:bodyPr>
              <a:lstStyle/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spcAft>
                    <a:spcPts val="600"/>
                  </a:spcAft>
                  <a:buNone/>
                </a:pPr>
                <a:r>
                  <a:rPr lang="ru-RU" sz="1800" b="1" dirty="0">
                    <a:effectLst/>
                    <a:latin typeface="Calibri" panose="020F0502020204030204" pitchFamily="34" charset="0"/>
                    <a:ea typeface="Times New Roman" panose="02020603050405020304" pitchFamily="18" charset="0"/>
                  </a:rPr>
                  <a:t>Текущая масса одной ступени</a:t>
                </a:r>
                <a:endParaRPr lang="ru-RU" sz="1800" dirty="0">
                  <a:latin typeface="Times New Roman" panose="02020603050405020304" pitchFamily="18" charset="0"/>
                  <a:ea typeface="Times New Roman" panose="02020603050405020304" pitchFamily="18" charset="0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spcAft>
                    <a:spcPts val="600"/>
                  </a:spcAft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ru-RU" sz="1800" i="1" smtClean="0">
                              <a:effectLst/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Calibri" panose="020F0502020204030204" pitchFamily="34" charset="0"/>
                            </a:rPr>
                          </m:ctrlPr>
                        </m:sSubPr>
                        <m:e>
                          <m:r>
                            <a:rPr lang="ru-RU" sz="1800" i="1">
                              <a:effectLst/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Calibri" panose="020F0502020204030204" pitchFamily="34" charset="0"/>
                            </a:rPr>
                            <m:t>𝑚</m:t>
                          </m:r>
                        </m:e>
                        <m:sub>
                          <m:r>
                            <m:rPr>
                              <m:nor/>
                            </m:rPr>
                            <a:rPr lang="en-US" sz="1800">
                              <a:effectLst/>
                              <a:latin typeface="Calibri" panose="020F0502020204030204" pitchFamily="34" charset="0"/>
                              <a:ea typeface="Times New Roman" panose="02020603050405020304" pitchFamily="18" charset="0"/>
                            </a:rPr>
                            <m:t>stage</m:t>
                          </m:r>
                        </m:sub>
                      </m:sSub>
                      <m:d>
                        <m:dPr>
                          <m:ctrlPr>
                            <a:rPr lang="ru-RU" sz="1800" i="1">
                              <a:effectLst/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Calibri" panose="020F0502020204030204" pitchFamily="34" charset="0"/>
                            </a:rPr>
                          </m:ctrlPr>
                        </m:dPr>
                        <m:e>
                          <m:r>
                            <a:rPr lang="ru-RU" sz="1800" i="1">
                              <a:effectLst/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Calibri" panose="020F0502020204030204" pitchFamily="34" charset="0"/>
                            </a:rPr>
                            <m:t>𝑡</m:t>
                          </m:r>
                        </m:e>
                      </m:d>
                      <m:r>
                        <a:rPr lang="ru-RU" sz="1800" i="1">
                          <a:effectLst/>
                          <a:latin typeface="Cambria Math" panose="02040503050406030204" pitchFamily="18" charset="0"/>
                          <a:ea typeface="Times New Roman" panose="02020603050405020304" pitchFamily="18" charset="0"/>
                          <a:cs typeface="Calibri" panose="020F0502020204030204" pitchFamily="34" charset="0"/>
                        </a:rPr>
                        <m:t>=</m:t>
                      </m:r>
                      <m:sSub>
                        <m:sSubPr>
                          <m:ctrlPr>
                            <a:rPr lang="ru-RU" sz="1800" i="1">
                              <a:effectLst/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Calibri" panose="020F0502020204030204" pitchFamily="34" charset="0"/>
                            </a:rPr>
                          </m:ctrlPr>
                        </m:sSubPr>
                        <m:e>
                          <m:r>
                            <a:rPr lang="ru-RU" sz="1800" i="1">
                              <a:effectLst/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Calibri" panose="020F0502020204030204" pitchFamily="34" charset="0"/>
                            </a:rPr>
                            <m:t>𝑚</m:t>
                          </m:r>
                        </m:e>
                        <m:sub>
                          <m:r>
                            <a:rPr lang="ru-RU" sz="1800" i="1">
                              <a:effectLst/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Calibri" panose="020F0502020204030204" pitchFamily="34" charset="0"/>
                            </a:rPr>
                            <m:t>𝑠</m:t>
                          </m:r>
                        </m:sub>
                      </m:sSub>
                      <m:r>
                        <a:rPr lang="ru-RU" sz="1800" i="1">
                          <a:effectLst/>
                          <a:latin typeface="Cambria Math" panose="02040503050406030204" pitchFamily="18" charset="0"/>
                          <a:ea typeface="Times New Roman" panose="02020603050405020304" pitchFamily="18" charset="0"/>
                          <a:cs typeface="Calibri" panose="020F0502020204030204" pitchFamily="34" charset="0"/>
                        </a:rPr>
                        <m:t>+</m:t>
                      </m:r>
                      <m:sSub>
                        <m:sSubPr>
                          <m:ctrlPr>
                            <a:rPr lang="ru-RU" sz="1800" i="1">
                              <a:effectLst/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Calibri" panose="020F0502020204030204" pitchFamily="34" charset="0"/>
                            </a:rPr>
                          </m:ctrlPr>
                        </m:sSubPr>
                        <m:e>
                          <m:r>
                            <a:rPr lang="ru-RU" sz="1800" i="1">
                              <a:effectLst/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Calibri" panose="020F0502020204030204" pitchFamily="34" charset="0"/>
                            </a:rPr>
                            <m:t>𝑚</m:t>
                          </m:r>
                        </m:e>
                        <m:sub>
                          <m:r>
                            <m:rPr>
                              <m:nor/>
                            </m:rPr>
                            <a:rPr lang="en-US" sz="1800">
                              <a:effectLst/>
                              <a:latin typeface="Calibri" panose="020F0502020204030204" pitchFamily="34" charset="0"/>
                              <a:ea typeface="Times New Roman" panose="02020603050405020304" pitchFamily="18" charset="0"/>
                            </a:rPr>
                            <m:t>fuel</m:t>
                          </m:r>
                        </m:sub>
                      </m:sSub>
                      <m:d>
                        <m:dPr>
                          <m:ctrlPr>
                            <a:rPr lang="ru-RU" sz="1800" i="1">
                              <a:effectLst/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Calibri" panose="020F0502020204030204" pitchFamily="34" charset="0"/>
                            </a:rPr>
                          </m:ctrlPr>
                        </m:dPr>
                        <m:e>
                          <m:r>
                            <a:rPr lang="ru-RU" sz="1800" i="1">
                              <a:effectLst/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Calibri" panose="020F0502020204030204" pitchFamily="34" charset="0"/>
                            </a:rPr>
                            <m:t>𝑡</m:t>
                          </m:r>
                        </m:e>
                      </m:d>
                      <m:r>
                        <a:rPr lang="ru-RU" sz="1800" i="1">
                          <a:effectLst/>
                          <a:latin typeface="Cambria Math" panose="02040503050406030204" pitchFamily="18" charset="0"/>
                          <a:ea typeface="Times New Roman" panose="02020603050405020304" pitchFamily="18" charset="0"/>
                          <a:cs typeface="Calibri" panose="020F0502020204030204" pitchFamily="34" charset="0"/>
                        </a:rPr>
                        <m:t>+</m:t>
                      </m:r>
                      <m:sSub>
                        <m:sSubPr>
                          <m:ctrlPr>
                            <a:rPr lang="ru-RU" sz="1800" i="1">
                              <a:effectLst/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Calibri" panose="020F0502020204030204" pitchFamily="34" charset="0"/>
                            </a:rPr>
                          </m:ctrlPr>
                        </m:sSubPr>
                        <m:e>
                          <m:r>
                            <a:rPr lang="ru-RU" sz="1800" i="1">
                              <a:effectLst/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Calibri" panose="020F0502020204030204" pitchFamily="34" charset="0"/>
                            </a:rPr>
                            <m:t>𝑚</m:t>
                          </m:r>
                        </m:e>
                        <m:sub>
                          <m:r>
                            <m:rPr>
                              <m:nor/>
                            </m:rPr>
                            <a:rPr lang="en-US" sz="1800">
                              <a:effectLst/>
                              <a:latin typeface="Calibri" panose="020F0502020204030204" pitchFamily="34" charset="0"/>
                              <a:ea typeface="Times New Roman" panose="02020603050405020304" pitchFamily="18" charset="0"/>
                            </a:rPr>
                            <m:t>penalty</m:t>
                          </m:r>
                        </m:sub>
                      </m:sSub>
                    </m:oMath>
                  </m:oMathPara>
                </a14:m>
                <a:endParaRPr lang="ru-RU" sz="1800" dirty="0">
                  <a:effectLst/>
                  <a:latin typeface="Times New Roman" panose="02020603050405020304" pitchFamily="18" charset="0"/>
                  <a:ea typeface="Times New Roman" panose="02020603050405020304" pitchFamily="18" charset="0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spcAft>
                    <a:spcPts val="600"/>
                  </a:spcAft>
                  <a:buNone/>
                </a:pPr>
                <a:r>
                  <a:rPr lang="ru-RU" sz="1800" dirty="0">
                    <a:effectLst/>
                    <a:latin typeface="Calibri" panose="020F0502020204030204" pitchFamily="34" charset="0"/>
                    <a:ea typeface="Times New Roman" panose="02020603050405020304" pitchFamily="18" charset="0"/>
                  </a:rPr>
                  <a:t>- </a:t>
                </a:r>
                <a14:m>
                  <m:oMath xmlns:m="http://schemas.openxmlformats.org/officeDocument/2006/math">
                    <m:r>
                      <m:rPr>
                        <m:lit/>
                      </m:rPr>
                      <a:rPr lang="ru-RU" sz="1800" i="1">
                        <a:effectLst/>
                        <a:latin typeface="Cambria Math" panose="02040503050406030204" pitchFamily="18" charset="0"/>
                        <a:ea typeface="Times New Roman" panose="02020603050405020304" pitchFamily="18" charset="0"/>
                        <a:cs typeface="Calibri" panose="020F0502020204030204" pitchFamily="34" charset="0"/>
                      </a:rPr>
                      <m:t>(</m:t>
                    </m:r>
                    <m:sSub>
                      <m:sSubPr>
                        <m:ctrlPr>
                          <a:rPr lang="ru-RU" sz="1800" i="1">
                            <a:effectLst/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Calibri" panose="020F0502020204030204" pitchFamily="34" charset="0"/>
                          </a:rPr>
                        </m:ctrlPr>
                      </m:sSubPr>
                      <m:e>
                        <m:r>
                          <a:rPr lang="ru-RU" sz="1800" i="1">
                            <a:effectLst/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Calibri" panose="020F0502020204030204" pitchFamily="34" charset="0"/>
                          </a:rPr>
                          <m:t>𝑚</m:t>
                        </m:r>
                      </m:e>
                      <m:sub>
                        <m:r>
                          <a:rPr lang="ru-RU" sz="1800" i="1">
                            <a:effectLst/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Calibri" panose="020F0502020204030204" pitchFamily="34" charset="0"/>
                          </a:rPr>
                          <m:t>𝑠</m:t>
                        </m:r>
                      </m:sub>
                    </m:sSub>
                    <m:r>
                      <m:rPr>
                        <m:lit/>
                      </m:rPr>
                      <a:rPr lang="ru-RU" sz="1800" i="1">
                        <a:effectLst/>
                        <a:latin typeface="Cambria Math" panose="02040503050406030204" pitchFamily="18" charset="0"/>
                        <a:ea typeface="Times New Roman" panose="02020603050405020304" pitchFamily="18" charset="0"/>
                        <a:cs typeface="Calibri" panose="020F0502020204030204" pitchFamily="34" charset="0"/>
                      </a:rPr>
                      <m:t>)</m:t>
                    </m:r>
                  </m:oMath>
                </a14:m>
                <a:r>
                  <a:rPr lang="ru-RU" sz="1800" dirty="0">
                    <a:effectLst/>
                    <a:latin typeface="Calibri" panose="020F0502020204030204" pitchFamily="34" charset="0"/>
                    <a:ea typeface="Times New Roman" panose="02020603050405020304" pitchFamily="18" charset="0"/>
                  </a:rPr>
                  <a:t>— структурная масса (кг) </a:t>
                </a:r>
                <a:endParaRPr lang="ru-RU" sz="1800" dirty="0">
                  <a:effectLst/>
                  <a:latin typeface="Times New Roman" panose="02020603050405020304" pitchFamily="18" charset="0"/>
                  <a:ea typeface="Times New Roman" panose="02020603050405020304" pitchFamily="18" charset="0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spcAft>
                    <a:spcPts val="600"/>
                  </a:spcAft>
                  <a:buNone/>
                </a:pPr>
                <a:r>
                  <a:rPr lang="ru-RU" sz="1800" dirty="0">
                    <a:effectLst/>
                    <a:latin typeface="Calibri" panose="020F0502020204030204" pitchFamily="34" charset="0"/>
                    <a:ea typeface="Times New Roman" panose="02020603050405020304" pitchFamily="18" charset="0"/>
                  </a:rPr>
                  <a:t>- </a:t>
                </a:r>
                <a14:m>
                  <m:oMath xmlns:m="http://schemas.openxmlformats.org/officeDocument/2006/math">
                    <m:r>
                      <m:rPr>
                        <m:lit/>
                      </m:rPr>
                      <a:rPr lang="ru-RU" sz="1800" i="1">
                        <a:effectLst/>
                        <a:latin typeface="Cambria Math" panose="02040503050406030204" pitchFamily="18" charset="0"/>
                        <a:ea typeface="Times New Roman" panose="02020603050405020304" pitchFamily="18" charset="0"/>
                        <a:cs typeface="Calibri" panose="020F0502020204030204" pitchFamily="34" charset="0"/>
                      </a:rPr>
                      <m:t>(</m:t>
                    </m:r>
                    <m:sSub>
                      <m:sSubPr>
                        <m:ctrlPr>
                          <a:rPr lang="ru-RU" sz="1800" i="1">
                            <a:effectLst/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Calibri" panose="020F0502020204030204" pitchFamily="34" charset="0"/>
                          </a:rPr>
                        </m:ctrlPr>
                      </m:sSubPr>
                      <m:e>
                        <m:r>
                          <a:rPr lang="ru-RU" sz="1800" i="1">
                            <a:effectLst/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Calibri" panose="020F0502020204030204" pitchFamily="34" charset="0"/>
                          </a:rPr>
                          <m:t>𝑚</m:t>
                        </m:r>
                      </m:e>
                      <m:sub>
                        <m:r>
                          <m:rPr>
                            <m:nor/>
                          </m:rPr>
                          <a:rPr lang="ru-RU" sz="1800">
                            <a:effectLst/>
                            <a:latin typeface="Calibri" panose="020F0502020204030204" pitchFamily="34" charset="0"/>
                            <a:ea typeface="Times New Roman" panose="02020603050405020304" pitchFamily="18" charset="0"/>
                          </a:rPr>
                          <m:t>fuel</m:t>
                        </m:r>
                      </m:sub>
                    </m:sSub>
                    <m:d>
                      <m:dPr>
                        <m:ctrlPr>
                          <a:rPr lang="ru-RU" sz="1800" i="1">
                            <a:effectLst/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Calibri" panose="020F0502020204030204" pitchFamily="34" charset="0"/>
                          </a:rPr>
                        </m:ctrlPr>
                      </m:dPr>
                      <m:e>
                        <m:r>
                          <a:rPr lang="ru-RU" sz="1800" i="1">
                            <a:effectLst/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Calibri" panose="020F0502020204030204" pitchFamily="34" charset="0"/>
                          </a:rPr>
                          <m:t>𝑡</m:t>
                        </m:r>
                      </m:e>
                    </m:d>
                    <m:r>
                      <m:rPr>
                        <m:lit/>
                      </m:rPr>
                      <a:rPr lang="ru-RU" sz="1800" i="1">
                        <a:effectLst/>
                        <a:latin typeface="Cambria Math" panose="02040503050406030204" pitchFamily="18" charset="0"/>
                        <a:ea typeface="Times New Roman" panose="02020603050405020304" pitchFamily="18" charset="0"/>
                        <a:cs typeface="Calibri" panose="020F0502020204030204" pitchFamily="34" charset="0"/>
                      </a:rPr>
                      <m:t>)</m:t>
                    </m:r>
                  </m:oMath>
                </a14:m>
                <a:r>
                  <a:rPr lang="ru-RU" sz="1800" dirty="0">
                    <a:effectLst/>
                    <a:latin typeface="Calibri" panose="020F0502020204030204" pitchFamily="34" charset="0"/>
                    <a:ea typeface="Times New Roman" panose="02020603050405020304" pitchFamily="18" charset="0"/>
                  </a:rPr>
                  <a:t> — текущая масса топлива (кг) </a:t>
                </a:r>
                <a:endParaRPr lang="ru-RU" sz="1800" dirty="0">
                  <a:effectLst/>
                  <a:latin typeface="Times New Roman" panose="02020603050405020304" pitchFamily="18" charset="0"/>
                  <a:ea typeface="Times New Roman" panose="02020603050405020304" pitchFamily="18" charset="0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spcAft>
                    <a:spcPts val="600"/>
                  </a:spcAft>
                  <a:buNone/>
                </a:pPr>
                <a:r>
                  <a:rPr lang="ru-RU" sz="1800" dirty="0">
                    <a:effectLst/>
                    <a:latin typeface="Calibri" panose="020F0502020204030204" pitchFamily="34" charset="0"/>
                    <a:ea typeface="Times New Roman" panose="02020603050405020304" pitchFamily="18" charset="0"/>
                  </a:rPr>
                  <a:t>- </a:t>
                </a:r>
                <a14:m>
                  <m:oMath xmlns:m="http://schemas.openxmlformats.org/officeDocument/2006/math">
                    <m:r>
                      <m:rPr>
                        <m:lit/>
                      </m:rPr>
                      <a:rPr lang="ru-RU" sz="1800" i="1">
                        <a:effectLst/>
                        <a:latin typeface="Cambria Math" panose="02040503050406030204" pitchFamily="18" charset="0"/>
                        <a:ea typeface="Times New Roman" panose="02020603050405020304" pitchFamily="18" charset="0"/>
                        <a:cs typeface="Calibri" panose="020F0502020204030204" pitchFamily="34" charset="0"/>
                      </a:rPr>
                      <m:t>(</m:t>
                    </m:r>
                    <m:sSub>
                      <m:sSubPr>
                        <m:ctrlPr>
                          <a:rPr lang="ru-RU" sz="1800" i="1">
                            <a:effectLst/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Calibri" panose="020F0502020204030204" pitchFamily="34" charset="0"/>
                          </a:rPr>
                        </m:ctrlPr>
                      </m:sSubPr>
                      <m:e>
                        <m:r>
                          <a:rPr lang="ru-RU" sz="1800" i="1">
                            <a:effectLst/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Calibri" panose="020F0502020204030204" pitchFamily="34" charset="0"/>
                          </a:rPr>
                          <m:t>𝑚</m:t>
                        </m:r>
                      </m:e>
                      <m:sub>
                        <m:r>
                          <m:rPr>
                            <m:nor/>
                          </m:rPr>
                          <a:rPr lang="ru-RU" sz="1800">
                            <a:effectLst/>
                            <a:latin typeface="Calibri" panose="020F0502020204030204" pitchFamily="34" charset="0"/>
                            <a:ea typeface="Times New Roman" panose="02020603050405020304" pitchFamily="18" charset="0"/>
                          </a:rPr>
                          <m:t>penalty</m:t>
                        </m:r>
                      </m:sub>
                    </m:sSub>
                    <m:r>
                      <m:rPr>
                        <m:lit/>
                      </m:rPr>
                      <a:rPr lang="ru-RU" sz="1800" i="1">
                        <a:effectLst/>
                        <a:latin typeface="Cambria Math" panose="02040503050406030204" pitchFamily="18" charset="0"/>
                        <a:ea typeface="Times New Roman" panose="02020603050405020304" pitchFamily="18" charset="0"/>
                        <a:cs typeface="Calibri" panose="020F0502020204030204" pitchFamily="34" charset="0"/>
                      </a:rPr>
                      <m:t>)</m:t>
                    </m:r>
                  </m:oMath>
                </a14:m>
                <a:r>
                  <a:rPr lang="ru-RU" sz="1800" dirty="0">
                    <a:effectLst/>
                    <a:latin typeface="Calibri" panose="020F0502020204030204" pitchFamily="34" charset="0"/>
                    <a:ea typeface="Times New Roman" panose="02020603050405020304" pitchFamily="18" charset="0"/>
                  </a:rPr>
                  <a:t> — межступенчатый штраф (кг) </a:t>
                </a:r>
                <a:endParaRPr lang="ru-RU" sz="1800" dirty="0">
                  <a:effectLst/>
                  <a:latin typeface="Times New Roman" panose="02020603050405020304" pitchFamily="18" charset="0"/>
                  <a:ea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F9A8D2F5-1A89-4C11-8C03-71C5DFB9CB6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96474" y="2905875"/>
                <a:ext cx="4511857" cy="1911292"/>
              </a:xfrm>
              <a:prstGeom prst="rect">
                <a:avLst/>
              </a:prstGeom>
              <a:blipFill>
                <a:blip r:embed="rId5"/>
                <a:stretch>
                  <a:fillRect l="-943" t="-1587" b="-1905"/>
                </a:stretch>
              </a:blipFill>
              <a:ln>
                <a:solidFill>
                  <a:schemeClr val="tx1">
                    <a:lumMod val="50000"/>
                    <a:lumOff val="50000"/>
                  </a:schemeClr>
                </a:solidFill>
              </a:ln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46B86D8D-75DA-4D70-895D-66D095C16BAA}"/>
                  </a:ext>
                </a:extLst>
              </p:cNvPr>
              <p:cNvSpPr txBox="1"/>
              <p:nvPr/>
            </p:nvSpPr>
            <p:spPr>
              <a:xfrm>
                <a:off x="5163208" y="3476435"/>
                <a:ext cx="5344510" cy="2775632"/>
              </a:xfrm>
              <a:prstGeom prst="rect">
                <a:avLst/>
              </a:prstGeom>
              <a:noFill/>
              <a:ln>
                <a:solidFill>
                  <a:schemeClr val="tx1">
                    <a:lumMod val="50000"/>
                    <a:lumOff val="50000"/>
                  </a:schemeClr>
                </a:solidFill>
              </a:ln>
            </p:spPr>
            <p:txBody>
              <a:bodyPr wrap="square">
                <a:spAutoFit/>
              </a:bodyPr>
              <a:lstStyle/>
              <a:p>
                <a:pPr>
                  <a:spcAft>
                    <a:spcPts val="600"/>
                  </a:spcAft>
                </a:pPr>
                <a:r>
                  <a:rPr lang="ru-RU" b="1" dirty="0">
                    <a:latin typeface="Calibri" panose="020F0502020204030204" pitchFamily="34" charset="0"/>
                    <a:ea typeface="Times New Roman" panose="02020603050405020304" pitchFamily="18" charset="0"/>
                  </a:rPr>
                  <a:t>Ускорение свободного падения на высоте</a:t>
                </a:r>
                <a:endParaRPr lang="ru-RU" dirty="0">
                  <a:latin typeface="Times New Roman" panose="02020603050405020304" pitchFamily="18" charset="0"/>
                  <a:ea typeface="Times New Roman" panose="02020603050405020304" pitchFamily="18" charset="0"/>
                </a:endParaRPr>
              </a:p>
              <a:p>
                <a:pPr>
                  <a:spcAft>
                    <a:spcPts val="600"/>
                  </a:spcAft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>
                          <a:latin typeface="Cambria Math" panose="02040503050406030204" pitchFamily="18" charset="0"/>
                          <a:ea typeface="Times New Roman" panose="02020603050405020304" pitchFamily="18" charset="0"/>
                          <a:cs typeface="Calibri" panose="020F0502020204030204" pitchFamily="34" charset="0"/>
                        </a:rPr>
                        <m:t>𝑔</m:t>
                      </m:r>
                      <m:d>
                        <m:dPr>
                          <m:ctrlPr>
                            <a:rPr lang="ru-RU" i="1"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Calibri" panose="020F0502020204030204" pitchFamily="34" charset="0"/>
                            </a:rPr>
                          </m:ctrlPr>
                        </m:dPr>
                        <m:e>
                          <m:r>
                            <a:rPr lang="en-US" i="1"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Calibri" panose="020F0502020204030204" pitchFamily="34" charset="0"/>
                            </a:rPr>
                            <m:t>h</m:t>
                          </m:r>
                        </m:e>
                      </m:d>
                      <m:r>
                        <a:rPr lang="en-US" i="1">
                          <a:latin typeface="Cambria Math" panose="02040503050406030204" pitchFamily="18" charset="0"/>
                          <a:ea typeface="Times New Roman" panose="02020603050405020304" pitchFamily="18" charset="0"/>
                          <a:cs typeface="Calibri" panose="020F0502020204030204" pitchFamily="34" charset="0"/>
                        </a:rPr>
                        <m:t>=</m:t>
                      </m:r>
                      <m:f>
                        <m:fPr>
                          <m:ctrlPr>
                            <a:rPr lang="ru-RU" i="1"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Calibri" panose="020F0502020204030204" pitchFamily="34" charset="0"/>
                            </a:rPr>
                          </m:ctrlPr>
                        </m:fPr>
                        <m:num>
                          <m:r>
                            <a:rPr lang="en-US" i="1"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Calibri" panose="020F0502020204030204" pitchFamily="34" charset="0"/>
                            </a:rPr>
                            <m:t>𝐺𝑀</m:t>
                          </m:r>
                        </m:num>
                        <m:den>
                          <m:sSup>
                            <m:sSupPr>
                              <m:ctrlPr>
                                <a:rPr lang="ru-RU" i="1">
                                  <a:latin typeface="Cambria Math" panose="02040503050406030204" pitchFamily="18" charset="0"/>
                                  <a:ea typeface="Times New Roman" panose="02020603050405020304" pitchFamily="18" charset="0"/>
                                  <a:cs typeface="Calibri" panose="020F0502020204030204" pitchFamily="34" charset="0"/>
                                </a:rPr>
                              </m:ctrlPr>
                            </m:sSupPr>
                            <m:e>
                              <m:d>
                                <m:dPr>
                                  <m:ctrlPr>
                                    <a:rPr lang="ru-RU" i="1">
                                      <a:latin typeface="Cambria Math" panose="02040503050406030204" pitchFamily="18" charset="0"/>
                                      <a:ea typeface="Times New Roman" panose="02020603050405020304" pitchFamily="18" charset="0"/>
                                      <a:cs typeface="Calibri" panose="020F0502020204030204" pitchFamily="34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  <a:ea typeface="Times New Roman" panose="02020603050405020304" pitchFamily="18" charset="0"/>
                                      <a:cs typeface="Calibri" panose="020F0502020204030204" pitchFamily="34" charset="0"/>
                                    </a:rPr>
                                    <m:t>𝑅</m:t>
                                  </m:r>
                                  <m:r>
                                    <a:rPr lang="en-US" i="1">
                                      <a:latin typeface="Cambria Math" panose="02040503050406030204" pitchFamily="18" charset="0"/>
                                      <a:ea typeface="Times New Roman" panose="02020603050405020304" pitchFamily="18" charset="0"/>
                                      <a:cs typeface="Calibri" panose="020F0502020204030204" pitchFamily="34" charset="0"/>
                                    </a:rPr>
                                    <m:t>+</m:t>
                                  </m:r>
                                  <m:r>
                                    <a:rPr lang="en-US" i="1">
                                      <a:latin typeface="Cambria Math" panose="02040503050406030204" pitchFamily="18" charset="0"/>
                                      <a:ea typeface="Times New Roman" panose="02020603050405020304" pitchFamily="18" charset="0"/>
                                      <a:cs typeface="Calibri" panose="020F0502020204030204" pitchFamily="34" charset="0"/>
                                    </a:rPr>
                                    <m:t>h</m:t>
                                  </m:r>
                                </m:e>
                              </m:d>
                            </m:e>
                            <m:sup>
                              <m:r>
                                <a:rPr lang="en-US" i="1">
                                  <a:latin typeface="Cambria Math" panose="02040503050406030204" pitchFamily="18" charset="0"/>
                                  <a:ea typeface="Times New Roman" panose="02020603050405020304" pitchFamily="18" charset="0"/>
                                  <a:cs typeface="Calibri" panose="020F0502020204030204" pitchFamily="34" charset="0"/>
                                </a:rPr>
                                <m:t>2</m:t>
                              </m:r>
                            </m:sup>
                          </m:sSup>
                        </m:den>
                      </m:f>
                    </m:oMath>
                  </m:oMathPara>
                </a14:m>
                <a:endParaRPr lang="ru-RU" dirty="0">
                  <a:latin typeface="Times New Roman" panose="02020603050405020304" pitchFamily="18" charset="0"/>
                  <a:ea typeface="Times New Roman" panose="02020603050405020304" pitchFamily="18" charset="0"/>
                </a:endParaRPr>
              </a:p>
              <a:p>
                <a:pPr>
                  <a:spcAft>
                    <a:spcPts val="600"/>
                  </a:spcAft>
                </a:pPr>
                <a:r>
                  <a:rPr lang="ru-RU" dirty="0">
                    <a:latin typeface="Calibri" panose="020F0502020204030204" pitchFamily="34" charset="0"/>
                    <a:ea typeface="Times New Roman" panose="02020603050405020304" pitchFamily="18" charset="0"/>
                  </a:rPr>
                  <a:t>- </a:t>
                </a:r>
                <a14:m>
                  <m:oMath xmlns:m="http://schemas.openxmlformats.org/officeDocument/2006/math">
                    <m:r>
                      <m:rPr>
                        <m:lit/>
                      </m:rPr>
                      <a:rPr lang="ru-RU" i="1">
                        <a:latin typeface="Cambria Math" panose="02040503050406030204" pitchFamily="18" charset="0"/>
                        <a:ea typeface="Times New Roman" panose="02020603050405020304" pitchFamily="18" charset="0"/>
                        <a:cs typeface="Calibri" panose="020F0502020204030204" pitchFamily="34" charset="0"/>
                      </a:rPr>
                      <m:t>(</m:t>
                    </m:r>
                    <m:r>
                      <a:rPr lang="ru-RU" i="1">
                        <a:latin typeface="Cambria Math" panose="02040503050406030204" pitchFamily="18" charset="0"/>
                        <a:ea typeface="Times New Roman" panose="02020603050405020304" pitchFamily="18" charset="0"/>
                        <a:cs typeface="Calibri" panose="020F0502020204030204" pitchFamily="34" charset="0"/>
                      </a:rPr>
                      <m:t>𝑔</m:t>
                    </m:r>
                    <m:d>
                      <m:dPr>
                        <m:ctrlPr>
                          <a:rPr lang="ru-RU" i="1"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Calibri" panose="020F0502020204030204" pitchFamily="34" charset="0"/>
                          </a:rPr>
                        </m:ctrlPr>
                      </m:dPr>
                      <m:e>
                        <m:r>
                          <a:rPr lang="ru-RU" i="1"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Calibri" panose="020F0502020204030204" pitchFamily="34" charset="0"/>
                          </a:rPr>
                          <m:t>h</m:t>
                        </m:r>
                      </m:e>
                    </m:d>
                    <m:r>
                      <m:rPr>
                        <m:lit/>
                      </m:rPr>
                      <a:rPr lang="ru-RU" i="1">
                        <a:latin typeface="Cambria Math" panose="02040503050406030204" pitchFamily="18" charset="0"/>
                        <a:ea typeface="Times New Roman" panose="02020603050405020304" pitchFamily="18" charset="0"/>
                        <a:cs typeface="Calibri" panose="020F0502020204030204" pitchFamily="34" charset="0"/>
                      </a:rPr>
                      <m:t>)</m:t>
                    </m:r>
                  </m:oMath>
                </a14:m>
                <a:r>
                  <a:rPr lang="ru-RU" dirty="0">
                    <a:latin typeface="Calibri" panose="020F0502020204030204" pitchFamily="34" charset="0"/>
                    <a:ea typeface="Times New Roman" panose="02020603050405020304" pitchFamily="18" charset="0"/>
                  </a:rPr>
                  <a:t> — ускорение силы тяжести (м/с²) </a:t>
                </a:r>
                <a:endParaRPr lang="ru-RU" dirty="0">
                  <a:latin typeface="Times New Roman" panose="02020603050405020304" pitchFamily="18" charset="0"/>
                  <a:ea typeface="Times New Roman" panose="02020603050405020304" pitchFamily="18" charset="0"/>
                </a:endParaRPr>
              </a:p>
              <a:p>
                <a:pPr>
                  <a:spcAft>
                    <a:spcPts val="600"/>
                  </a:spcAft>
                </a:pPr>
                <a:r>
                  <a:rPr lang="ru-RU" dirty="0">
                    <a:latin typeface="Calibri" panose="020F0502020204030204" pitchFamily="34" charset="0"/>
                    <a:ea typeface="Times New Roman" panose="02020603050405020304" pitchFamily="18" charset="0"/>
                  </a:rPr>
                  <a:t>- </a:t>
                </a:r>
                <a14:m>
                  <m:oMath xmlns:m="http://schemas.openxmlformats.org/officeDocument/2006/math">
                    <m:r>
                      <m:rPr>
                        <m:lit/>
                      </m:rPr>
                      <a:rPr lang="ru-RU" i="1">
                        <a:latin typeface="Cambria Math" panose="02040503050406030204" pitchFamily="18" charset="0"/>
                        <a:ea typeface="Times New Roman" panose="02020603050405020304" pitchFamily="18" charset="0"/>
                        <a:cs typeface="Calibri" panose="020F0502020204030204" pitchFamily="34" charset="0"/>
                      </a:rPr>
                      <m:t>(</m:t>
                    </m:r>
                    <m:r>
                      <a:rPr lang="ru-RU" i="1">
                        <a:latin typeface="Cambria Math" panose="02040503050406030204" pitchFamily="18" charset="0"/>
                        <a:ea typeface="Times New Roman" panose="02020603050405020304" pitchFamily="18" charset="0"/>
                        <a:cs typeface="Calibri" panose="020F0502020204030204" pitchFamily="34" charset="0"/>
                      </a:rPr>
                      <m:t>𝐺</m:t>
                    </m:r>
                    <m:r>
                      <m:rPr>
                        <m:lit/>
                      </m:rPr>
                      <a:rPr lang="ru-RU" i="1">
                        <a:latin typeface="Cambria Math" panose="02040503050406030204" pitchFamily="18" charset="0"/>
                        <a:ea typeface="Times New Roman" panose="02020603050405020304" pitchFamily="18" charset="0"/>
                        <a:cs typeface="Calibri" panose="020F0502020204030204" pitchFamily="34" charset="0"/>
                      </a:rPr>
                      <m:t>)</m:t>
                    </m:r>
                  </m:oMath>
                </a14:m>
                <a:r>
                  <a:rPr lang="ru-RU" dirty="0">
                    <a:latin typeface="Calibri" panose="020F0502020204030204" pitchFamily="34" charset="0"/>
                    <a:ea typeface="Times New Roman" panose="02020603050405020304" pitchFamily="18" charset="0"/>
                  </a:rPr>
                  <a:t> — гравитационная постоянная (м³·кг⁻¹·с⁻²) </a:t>
                </a:r>
                <a:endParaRPr lang="ru-RU" dirty="0">
                  <a:latin typeface="Times New Roman" panose="02020603050405020304" pitchFamily="18" charset="0"/>
                  <a:ea typeface="Times New Roman" panose="02020603050405020304" pitchFamily="18" charset="0"/>
                </a:endParaRPr>
              </a:p>
              <a:p>
                <a:pPr>
                  <a:spcAft>
                    <a:spcPts val="600"/>
                  </a:spcAft>
                </a:pPr>
                <a:r>
                  <a:rPr lang="ru-RU" dirty="0">
                    <a:latin typeface="Calibri" panose="020F0502020204030204" pitchFamily="34" charset="0"/>
                    <a:ea typeface="Times New Roman" panose="02020603050405020304" pitchFamily="18" charset="0"/>
                  </a:rPr>
                  <a:t>- </a:t>
                </a:r>
                <a14:m>
                  <m:oMath xmlns:m="http://schemas.openxmlformats.org/officeDocument/2006/math">
                    <m:r>
                      <m:rPr>
                        <m:lit/>
                      </m:rPr>
                      <a:rPr lang="ru-RU" i="1">
                        <a:latin typeface="Cambria Math" panose="02040503050406030204" pitchFamily="18" charset="0"/>
                        <a:ea typeface="Times New Roman" panose="02020603050405020304" pitchFamily="18" charset="0"/>
                        <a:cs typeface="Calibri" panose="020F0502020204030204" pitchFamily="34" charset="0"/>
                      </a:rPr>
                      <m:t>(</m:t>
                    </m:r>
                    <m:r>
                      <a:rPr lang="ru-RU" i="1">
                        <a:latin typeface="Cambria Math" panose="02040503050406030204" pitchFamily="18" charset="0"/>
                        <a:ea typeface="Times New Roman" panose="02020603050405020304" pitchFamily="18" charset="0"/>
                        <a:cs typeface="Calibri" panose="020F0502020204030204" pitchFamily="34" charset="0"/>
                      </a:rPr>
                      <m:t>𝑀</m:t>
                    </m:r>
                    <m:r>
                      <m:rPr>
                        <m:lit/>
                      </m:rPr>
                      <a:rPr lang="ru-RU" i="1">
                        <a:latin typeface="Cambria Math" panose="02040503050406030204" pitchFamily="18" charset="0"/>
                        <a:ea typeface="Times New Roman" panose="02020603050405020304" pitchFamily="18" charset="0"/>
                        <a:cs typeface="Calibri" panose="020F0502020204030204" pitchFamily="34" charset="0"/>
                      </a:rPr>
                      <m:t>)</m:t>
                    </m:r>
                  </m:oMath>
                </a14:m>
                <a:r>
                  <a:rPr lang="ru-RU" dirty="0">
                    <a:latin typeface="Calibri" panose="020F0502020204030204" pitchFamily="34" charset="0"/>
                    <a:ea typeface="Times New Roman" panose="02020603050405020304" pitchFamily="18" charset="0"/>
                  </a:rPr>
                  <a:t> — масса планеты (кг) </a:t>
                </a:r>
                <a:endParaRPr lang="ru-RU" dirty="0">
                  <a:latin typeface="Times New Roman" panose="02020603050405020304" pitchFamily="18" charset="0"/>
                  <a:ea typeface="Times New Roman" panose="02020603050405020304" pitchFamily="18" charset="0"/>
                </a:endParaRPr>
              </a:p>
              <a:p>
                <a:pPr>
                  <a:spcAft>
                    <a:spcPts val="600"/>
                  </a:spcAft>
                </a:pPr>
                <a:r>
                  <a:rPr lang="ru-RU" dirty="0">
                    <a:latin typeface="Calibri" panose="020F0502020204030204" pitchFamily="34" charset="0"/>
                    <a:ea typeface="Times New Roman" panose="02020603050405020304" pitchFamily="18" charset="0"/>
                  </a:rPr>
                  <a:t>- </a:t>
                </a:r>
                <a14:m>
                  <m:oMath xmlns:m="http://schemas.openxmlformats.org/officeDocument/2006/math">
                    <m:r>
                      <m:rPr>
                        <m:lit/>
                      </m:rPr>
                      <a:rPr lang="ru-RU" i="1">
                        <a:latin typeface="Cambria Math" panose="02040503050406030204" pitchFamily="18" charset="0"/>
                        <a:ea typeface="Times New Roman" panose="02020603050405020304" pitchFamily="18" charset="0"/>
                        <a:cs typeface="Calibri" panose="020F0502020204030204" pitchFamily="34" charset="0"/>
                      </a:rPr>
                      <m:t>(</m:t>
                    </m:r>
                    <m:r>
                      <a:rPr lang="ru-RU" i="1">
                        <a:latin typeface="Cambria Math" panose="02040503050406030204" pitchFamily="18" charset="0"/>
                        <a:ea typeface="Times New Roman" panose="02020603050405020304" pitchFamily="18" charset="0"/>
                        <a:cs typeface="Calibri" panose="020F0502020204030204" pitchFamily="34" charset="0"/>
                      </a:rPr>
                      <m:t>𝑅</m:t>
                    </m:r>
                    <m:r>
                      <m:rPr>
                        <m:lit/>
                      </m:rPr>
                      <a:rPr lang="ru-RU" i="1">
                        <a:latin typeface="Cambria Math" panose="02040503050406030204" pitchFamily="18" charset="0"/>
                        <a:ea typeface="Times New Roman" panose="02020603050405020304" pitchFamily="18" charset="0"/>
                        <a:cs typeface="Calibri" panose="020F0502020204030204" pitchFamily="34" charset="0"/>
                      </a:rPr>
                      <m:t>)</m:t>
                    </m:r>
                  </m:oMath>
                </a14:m>
                <a:r>
                  <a:rPr lang="ru-RU" dirty="0">
                    <a:latin typeface="Calibri" panose="020F0502020204030204" pitchFamily="34" charset="0"/>
                    <a:ea typeface="Times New Roman" panose="02020603050405020304" pitchFamily="18" charset="0"/>
                  </a:rPr>
                  <a:t> — радиус планеты (м) </a:t>
                </a:r>
                <a:endParaRPr lang="ru-RU" dirty="0">
                  <a:latin typeface="Times New Roman" panose="02020603050405020304" pitchFamily="18" charset="0"/>
                  <a:ea typeface="Times New Roman" panose="02020603050405020304" pitchFamily="18" charset="0"/>
                </a:endParaRPr>
              </a:p>
              <a:p>
                <a:pPr>
                  <a:spcAft>
                    <a:spcPts val="600"/>
                  </a:spcAft>
                </a:pPr>
                <a:r>
                  <a:rPr lang="ru-RU" dirty="0">
                    <a:latin typeface="Calibri" panose="020F0502020204030204" pitchFamily="34" charset="0"/>
                    <a:ea typeface="Times New Roman" panose="02020603050405020304" pitchFamily="18" charset="0"/>
                  </a:rPr>
                  <a:t>- </a:t>
                </a:r>
                <a14:m>
                  <m:oMath xmlns:m="http://schemas.openxmlformats.org/officeDocument/2006/math">
                    <m:r>
                      <m:rPr>
                        <m:lit/>
                      </m:rPr>
                      <a:rPr lang="ru-RU" i="1">
                        <a:latin typeface="Cambria Math" panose="02040503050406030204" pitchFamily="18" charset="0"/>
                        <a:ea typeface="Times New Roman" panose="02020603050405020304" pitchFamily="18" charset="0"/>
                        <a:cs typeface="Calibri" panose="020F0502020204030204" pitchFamily="34" charset="0"/>
                      </a:rPr>
                      <m:t>(</m:t>
                    </m:r>
                    <m:r>
                      <a:rPr lang="ru-RU" i="1">
                        <a:latin typeface="Cambria Math" panose="02040503050406030204" pitchFamily="18" charset="0"/>
                        <a:ea typeface="Times New Roman" panose="02020603050405020304" pitchFamily="18" charset="0"/>
                        <a:cs typeface="Calibri" panose="020F0502020204030204" pitchFamily="34" charset="0"/>
                      </a:rPr>
                      <m:t>h</m:t>
                    </m:r>
                    <m:r>
                      <m:rPr>
                        <m:lit/>
                      </m:rPr>
                      <a:rPr lang="ru-RU" i="1">
                        <a:latin typeface="Cambria Math" panose="02040503050406030204" pitchFamily="18" charset="0"/>
                        <a:ea typeface="Times New Roman" panose="02020603050405020304" pitchFamily="18" charset="0"/>
                        <a:cs typeface="Calibri" panose="020F0502020204030204" pitchFamily="34" charset="0"/>
                      </a:rPr>
                      <m:t>)</m:t>
                    </m:r>
                  </m:oMath>
                </a14:m>
                <a:r>
                  <a:rPr lang="ru-RU" dirty="0">
                    <a:latin typeface="Calibri" panose="020F0502020204030204" pitchFamily="34" charset="0"/>
                    <a:ea typeface="Times New Roman" panose="02020603050405020304" pitchFamily="18" charset="0"/>
                  </a:rPr>
                  <a:t> — высота над поверхностью (м) </a:t>
                </a:r>
                <a:endParaRPr lang="ru-RU" dirty="0">
                  <a:latin typeface="Times New Roman" panose="02020603050405020304" pitchFamily="18" charset="0"/>
                  <a:ea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46B86D8D-75DA-4D70-895D-66D095C16BA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163208" y="3476435"/>
                <a:ext cx="5344510" cy="2775632"/>
              </a:xfrm>
              <a:prstGeom prst="rect">
                <a:avLst/>
              </a:prstGeom>
              <a:blipFill>
                <a:blip r:embed="rId6"/>
                <a:stretch>
                  <a:fillRect l="-910" t="-873" b="-2183"/>
                </a:stretch>
              </a:blipFill>
              <a:ln>
                <a:solidFill>
                  <a:schemeClr val="tx1">
                    <a:lumMod val="50000"/>
                    <a:lumOff val="50000"/>
                  </a:schemeClr>
                </a:solidFill>
              </a:ln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66106951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F8CFBDAA-B845-4C53-8511-67F56157498B}"/>
                  </a:ext>
                </a:extLst>
              </p:cNvPr>
              <p:cNvSpPr txBox="1"/>
              <p:nvPr/>
            </p:nvSpPr>
            <p:spPr>
              <a:xfrm>
                <a:off x="249620" y="683763"/>
                <a:ext cx="4947744" cy="2734595"/>
              </a:xfrm>
              <a:prstGeom prst="rect">
                <a:avLst/>
              </a:prstGeom>
              <a:noFill/>
              <a:ln>
                <a:solidFill>
                  <a:schemeClr val="tx1">
                    <a:lumMod val="50000"/>
                    <a:lumOff val="50000"/>
                  </a:schemeClr>
                </a:solidFill>
              </a:ln>
            </p:spPr>
            <p:txBody>
              <a:bodyPr wrap="square">
                <a:spAutoFit/>
              </a:bodyPr>
              <a:lstStyle/>
              <a:p>
                <a:pPr>
                  <a:spcAft>
                    <a:spcPts val="600"/>
                  </a:spcAft>
                </a:pPr>
                <a:r>
                  <a:rPr lang="ru-RU" sz="1800" b="1" dirty="0">
                    <a:effectLst/>
                    <a:latin typeface="Calibri" panose="020F0502020204030204" pitchFamily="34" charset="0"/>
                    <a:ea typeface="Times New Roman" panose="02020603050405020304" pitchFamily="18" charset="0"/>
                  </a:rPr>
                  <a:t>Сила аэродинамического сопротивления</a:t>
                </a:r>
                <a:endParaRPr lang="ru-RU" sz="1800" dirty="0">
                  <a:effectLst/>
                  <a:latin typeface="Times New Roman" panose="02020603050405020304" pitchFamily="18" charset="0"/>
                  <a:ea typeface="Times New Roman" panose="02020603050405020304" pitchFamily="18" charset="0"/>
                </a:endParaRPr>
              </a:p>
              <a:p>
                <a:pPr>
                  <a:spcAft>
                    <a:spcPts val="600"/>
                  </a:spcAft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ru-RU" sz="1800" i="1">
                              <a:effectLst/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Calibri" panose="020F0502020204030204" pitchFamily="34" charset="0"/>
                            </a:rPr>
                          </m:ctrlPr>
                        </m:sSubPr>
                        <m:e>
                          <m:r>
                            <a:rPr lang="en-US" sz="1800" i="1">
                              <a:effectLst/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Calibri" panose="020F0502020204030204" pitchFamily="34" charset="0"/>
                            </a:rPr>
                            <m:t>𝐹</m:t>
                          </m:r>
                        </m:e>
                        <m:sub>
                          <m:r>
                            <a:rPr lang="en-US" sz="1800" i="1">
                              <a:effectLst/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Calibri" panose="020F0502020204030204" pitchFamily="34" charset="0"/>
                            </a:rPr>
                            <m:t>𝑑</m:t>
                          </m:r>
                        </m:sub>
                      </m:sSub>
                      <m:r>
                        <a:rPr lang="en-US" sz="1800" i="1">
                          <a:effectLst/>
                          <a:latin typeface="Cambria Math" panose="02040503050406030204" pitchFamily="18" charset="0"/>
                          <a:ea typeface="Times New Roman" panose="02020603050405020304" pitchFamily="18" charset="0"/>
                          <a:cs typeface="Calibri" panose="020F0502020204030204" pitchFamily="34" charset="0"/>
                        </a:rPr>
                        <m:t>=</m:t>
                      </m:r>
                      <m:f>
                        <m:fPr>
                          <m:ctrlPr>
                            <a:rPr lang="ru-RU" sz="1800" i="1">
                              <a:effectLst/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Calibri" panose="020F0502020204030204" pitchFamily="34" charset="0"/>
                            </a:rPr>
                          </m:ctrlPr>
                        </m:fPr>
                        <m:num>
                          <m:r>
                            <a:rPr lang="en-US" sz="1800" i="1">
                              <a:effectLst/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Calibri" panose="020F0502020204030204" pitchFamily="34" charset="0"/>
                            </a:rPr>
                            <m:t>1</m:t>
                          </m:r>
                        </m:num>
                        <m:den>
                          <m:r>
                            <a:rPr lang="en-US" sz="1800" i="1">
                              <a:effectLst/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Calibri" panose="020F0502020204030204" pitchFamily="34" charset="0"/>
                            </a:rPr>
                            <m:t>2</m:t>
                          </m:r>
                        </m:den>
                      </m:f>
                      <m:sSub>
                        <m:sSubPr>
                          <m:ctrlPr>
                            <a:rPr lang="ru-RU" sz="1800" i="1">
                              <a:effectLst/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Calibri" panose="020F0502020204030204" pitchFamily="34" charset="0"/>
                            </a:rPr>
                          </m:ctrlPr>
                        </m:sSubPr>
                        <m:e>
                          <m:r>
                            <a:rPr lang="en-US" sz="1800" i="1">
                              <a:effectLst/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Calibri" panose="020F0502020204030204" pitchFamily="34" charset="0"/>
                            </a:rPr>
                            <m:t>𝐶</m:t>
                          </m:r>
                        </m:e>
                        <m:sub>
                          <m:r>
                            <a:rPr lang="en-US" sz="1800" i="1">
                              <a:effectLst/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Calibri" panose="020F0502020204030204" pitchFamily="34" charset="0"/>
                            </a:rPr>
                            <m:t>𝑑</m:t>
                          </m:r>
                        </m:sub>
                      </m:sSub>
                      <m:r>
                        <m:rPr>
                          <m:sty m:val="p"/>
                        </m:rPr>
                        <a:rPr lang="en-US" sz="1800">
                          <a:effectLst/>
                          <a:latin typeface="Cambria Math" panose="02040503050406030204" pitchFamily="18" charset="0"/>
                          <a:ea typeface="Times New Roman" panose="02020603050405020304" pitchFamily="18" charset="0"/>
                          <a:cs typeface="Calibri" panose="020F0502020204030204" pitchFamily="34" charset="0"/>
                        </a:rPr>
                        <m:t>ρ</m:t>
                      </m:r>
                      <m:sSup>
                        <m:sSupPr>
                          <m:ctrlPr>
                            <a:rPr lang="ru-RU" sz="1800" i="1">
                              <a:effectLst/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Calibri" panose="020F0502020204030204" pitchFamily="34" charset="0"/>
                            </a:rPr>
                          </m:ctrlPr>
                        </m:sSupPr>
                        <m:e>
                          <m:r>
                            <a:rPr lang="en-US" sz="1800" i="1">
                              <a:effectLst/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Calibri" panose="020F0502020204030204" pitchFamily="34" charset="0"/>
                            </a:rPr>
                            <m:t>𝑣</m:t>
                          </m:r>
                        </m:e>
                        <m:sup>
                          <m:r>
                            <a:rPr lang="en-US" sz="1800" i="1">
                              <a:effectLst/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Calibri" panose="020F0502020204030204" pitchFamily="34" charset="0"/>
                            </a:rPr>
                            <m:t>2</m:t>
                          </m:r>
                        </m:sup>
                      </m:sSup>
                      <m:r>
                        <a:rPr lang="en-US" sz="1800" i="1">
                          <a:effectLst/>
                          <a:latin typeface="Cambria Math" panose="02040503050406030204" pitchFamily="18" charset="0"/>
                          <a:ea typeface="Times New Roman" panose="02020603050405020304" pitchFamily="18" charset="0"/>
                          <a:cs typeface="Calibri" panose="020F0502020204030204" pitchFamily="34" charset="0"/>
                        </a:rPr>
                        <m:t>𝐴</m:t>
                      </m:r>
                    </m:oMath>
                  </m:oMathPara>
                </a14:m>
                <a:endParaRPr lang="ru-RU" sz="1800" dirty="0">
                  <a:effectLst/>
                  <a:latin typeface="Times New Roman" panose="02020603050405020304" pitchFamily="18" charset="0"/>
                  <a:ea typeface="Times New Roman" panose="02020603050405020304" pitchFamily="18" charset="0"/>
                </a:endParaRPr>
              </a:p>
              <a:p>
                <a:pPr>
                  <a:spcAft>
                    <a:spcPts val="600"/>
                  </a:spcAft>
                </a:pPr>
                <a:r>
                  <a:rPr lang="ru-RU" sz="1800" dirty="0">
                    <a:effectLst/>
                    <a:latin typeface="Calibri" panose="020F0502020204030204" pitchFamily="34" charset="0"/>
                    <a:ea typeface="Times New Roman" panose="02020603050405020304" pitchFamily="18" charset="0"/>
                  </a:rPr>
                  <a:t>- </a:t>
                </a:r>
                <a14:m>
                  <m:oMath xmlns:m="http://schemas.openxmlformats.org/officeDocument/2006/math">
                    <m:r>
                      <m:rPr>
                        <m:lit/>
                      </m:rPr>
                      <a:rPr lang="ru-RU" sz="1800" i="1">
                        <a:effectLst/>
                        <a:latin typeface="Cambria Math" panose="02040503050406030204" pitchFamily="18" charset="0"/>
                        <a:ea typeface="Times New Roman" panose="02020603050405020304" pitchFamily="18" charset="0"/>
                        <a:cs typeface="Calibri" panose="020F0502020204030204" pitchFamily="34" charset="0"/>
                      </a:rPr>
                      <m:t>(</m:t>
                    </m:r>
                    <m:sSub>
                      <m:sSubPr>
                        <m:ctrlPr>
                          <a:rPr lang="ru-RU" sz="1800" i="1">
                            <a:effectLst/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Calibri" panose="020F0502020204030204" pitchFamily="34" charset="0"/>
                          </a:rPr>
                        </m:ctrlPr>
                      </m:sSubPr>
                      <m:e>
                        <m:r>
                          <a:rPr lang="ru-RU" sz="1800" i="1">
                            <a:effectLst/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Calibri" panose="020F0502020204030204" pitchFamily="34" charset="0"/>
                          </a:rPr>
                          <m:t>𝐹</m:t>
                        </m:r>
                      </m:e>
                      <m:sub>
                        <m:r>
                          <a:rPr lang="ru-RU" sz="1800" i="1">
                            <a:effectLst/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Calibri" panose="020F0502020204030204" pitchFamily="34" charset="0"/>
                          </a:rPr>
                          <m:t>𝑑</m:t>
                        </m:r>
                      </m:sub>
                    </m:sSub>
                    <m:r>
                      <m:rPr>
                        <m:lit/>
                      </m:rPr>
                      <a:rPr lang="ru-RU" sz="1800" i="1">
                        <a:effectLst/>
                        <a:latin typeface="Cambria Math" panose="02040503050406030204" pitchFamily="18" charset="0"/>
                        <a:ea typeface="Times New Roman" panose="02020603050405020304" pitchFamily="18" charset="0"/>
                        <a:cs typeface="Calibri" panose="020F0502020204030204" pitchFamily="34" charset="0"/>
                      </a:rPr>
                      <m:t>)</m:t>
                    </m:r>
                  </m:oMath>
                </a14:m>
                <a:r>
                  <a:rPr lang="ru-RU" sz="1800" dirty="0">
                    <a:effectLst/>
                    <a:latin typeface="Calibri" panose="020F0502020204030204" pitchFamily="34" charset="0"/>
                    <a:ea typeface="Times New Roman" panose="02020603050405020304" pitchFamily="18" charset="0"/>
                  </a:rPr>
                  <a:t> — сила сопротивления (Н) </a:t>
                </a:r>
                <a:endParaRPr lang="ru-RU" sz="1800" dirty="0">
                  <a:effectLst/>
                  <a:latin typeface="Times New Roman" panose="02020603050405020304" pitchFamily="18" charset="0"/>
                  <a:ea typeface="Times New Roman" panose="02020603050405020304" pitchFamily="18" charset="0"/>
                </a:endParaRPr>
              </a:p>
              <a:p>
                <a:pPr>
                  <a:spcAft>
                    <a:spcPts val="600"/>
                  </a:spcAft>
                </a:pPr>
                <a:r>
                  <a:rPr lang="ru-RU" sz="1800" dirty="0">
                    <a:effectLst/>
                    <a:latin typeface="Calibri" panose="020F0502020204030204" pitchFamily="34" charset="0"/>
                    <a:ea typeface="Times New Roman" panose="02020603050405020304" pitchFamily="18" charset="0"/>
                  </a:rPr>
                  <a:t>- </a:t>
                </a:r>
                <a14:m>
                  <m:oMath xmlns:m="http://schemas.openxmlformats.org/officeDocument/2006/math">
                    <m:r>
                      <m:rPr>
                        <m:lit/>
                      </m:rPr>
                      <a:rPr lang="ru-RU" sz="1800" i="1">
                        <a:effectLst/>
                        <a:latin typeface="Cambria Math" panose="02040503050406030204" pitchFamily="18" charset="0"/>
                        <a:ea typeface="Times New Roman" panose="02020603050405020304" pitchFamily="18" charset="0"/>
                        <a:cs typeface="Calibri" panose="020F0502020204030204" pitchFamily="34" charset="0"/>
                      </a:rPr>
                      <m:t>(</m:t>
                    </m:r>
                    <m:sSub>
                      <m:sSubPr>
                        <m:ctrlPr>
                          <a:rPr lang="ru-RU" sz="1800" i="1">
                            <a:effectLst/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Calibri" panose="020F0502020204030204" pitchFamily="34" charset="0"/>
                          </a:rPr>
                        </m:ctrlPr>
                      </m:sSubPr>
                      <m:e>
                        <m:r>
                          <a:rPr lang="ru-RU" sz="1800" i="1">
                            <a:effectLst/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Calibri" panose="020F0502020204030204" pitchFamily="34" charset="0"/>
                          </a:rPr>
                          <m:t>𝐶</m:t>
                        </m:r>
                      </m:e>
                      <m:sub>
                        <m:r>
                          <a:rPr lang="ru-RU" sz="1800" i="1">
                            <a:effectLst/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Calibri" panose="020F0502020204030204" pitchFamily="34" charset="0"/>
                          </a:rPr>
                          <m:t>𝑑</m:t>
                        </m:r>
                      </m:sub>
                    </m:sSub>
                    <m:r>
                      <m:rPr>
                        <m:lit/>
                      </m:rPr>
                      <a:rPr lang="ru-RU" sz="1800" i="1">
                        <a:effectLst/>
                        <a:latin typeface="Cambria Math" panose="02040503050406030204" pitchFamily="18" charset="0"/>
                        <a:ea typeface="Times New Roman" panose="02020603050405020304" pitchFamily="18" charset="0"/>
                        <a:cs typeface="Calibri" panose="020F0502020204030204" pitchFamily="34" charset="0"/>
                      </a:rPr>
                      <m:t>)</m:t>
                    </m:r>
                  </m:oMath>
                </a14:m>
                <a:r>
                  <a:rPr lang="ru-RU" sz="1800" dirty="0">
                    <a:effectLst/>
                    <a:latin typeface="Calibri" panose="020F0502020204030204" pitchFamily="34" charset="0"/>
                    <a:ea typeface="Times New Roman" panose="02020603050405020304" pitchFamily="18" charset="0"/>
                  </a:rPr>
                  <a:t> — коэффициент сопротивления () </a:t>
                </a:r>
                <a:endParaRPr lang="ru-RU" sz="1800" dirty="0">
                  <a:effectLst/>
                  <a:latin typeface="Times New Roman" panose="02020603050405020304" pitchFamily="18" charset="0"/>
                  <a:ea typeface="Times New Roman" panose="02020603050405020304" pitchFamily="18" charset="0"/>
                </a:endParaRPr>
              </a:p>
              <a:p>
                <a:pPr>
                  <a:spcAft>
                    <a:spcPts val="600"/>
                  </a:spcAft>
                </a:pPr>
                <a:r>
                  <a:rPr lang="ru-RU" sz="1800" dirty="0">
                    <a:effectLst/>
                    <a:latin typeface="Calibri" panose="020F0502020204030204" pitchFamily="34" charset="0"/>
                    <a:ea typeface="Times New Roman" panose="02020603050405020304" pitchFamily="18" charset="0"/>
                  </a:rPr>
                  <a:t>- </a:t>
                </a:r>
                <a14:m>
                  <m:oMath xmlns:m="http://schemas.openxmlformats.org/officeDocument/2006/math">
                    <m:r>
                      <m:rPr>
                        <m:lit/>
                      </m:rPr>
                      <a:rPr lang="ru-RU" sz="1800" i="1">
                        <a:effectLst/>
                        <a:latin typeface="Cambria Math" panose="02040503050406030204" pitchFamily="18" charset="0"/>
                        <a:ea typeface="Times New Roman" panose="02020603050405020304" pitchFamily="18" charset="0"/>
                        <a:cs typeface="Calibri" panose="020F0502020204030204" pitchFamily="34" charset="0"/>
                      </a:rPr>
                      <m:t>(</m:t>
                    </m:r>
                    <m:r>
                      <m:rPr>
                        <m:sty m:val="p"/>
                      </m:rPr>
                      <a:rPr lang="ru-RU" sz="1800">
                        <a:effectLst/>
                        <a:latin typeface="Cambria Math" panose="02040503050406030204" pitchFamily="18" charset="0"/>
                        <a:ea typeface="Times New Roman" panose="02020603050405020304" pitchFamily="18" charset="0"/>
                        <a:cs typeface="Calibri" panose="020F0502020204030204" pitchFamily="34" charset="0"/>
                      </a:rPr>
                      <m:t>ρ</m:t>
                    </m:r>
                    <m:r>
                      <m:rPr>
                        <m:lit/>
                      </m:rPr>
                      <a:rPr lang="ru-RU" sz="1800" i="1">
                        <a:effectLst/>
                        <a:latin typeface="Cambria Math" panose="02040503050406030204" pitchFamily="18" charset="0"/>
                        <a:ea typeface="Times New Roman" panose="02020603050405020304" pitchFamily="18" charset="0"/>
                        <a:cs typeface="Calibri" panose="020F0502020204030204" pitchFamily="34" charset="0"/>
                      </a:rPr>
                      <m:t>)</m:t>
                    </m:r>
                  </m:oMath>
                </a14:m>
                <a:r>
                  <a:rPr lang="ru-RU" sz="1800" dirty="0">
                    <a:effectLst/>
                    <a:latin typeface="Calibri" panose="020F0502020204030204" pitchFamily="34" charset="0"/>
                    <a:ea typeface="Times New Roman" panose="02020603050405020304" pitchFamily="18" charset="0"/>
                  </a:rPr>
                  <a:t> — плотность воздуха (кг/м³) </a:t>
                </a:r>
                <a:endParaRPr lang="ru-RU" sz="1800" dirty="0">
                  <a:effectLst/>
                  <a:latin typeface="Times New Roman" panose="02020603050405020304" pitchFamily="18" charset="0"/>
                  <a:ea typeface="Times New Roman" panose="02020603050405020304" pitchFamily="18" charset="0"/>
                </a:endParaRPr>
              </a:p>
              <a:p>
                <a:pPr>
                  <a:spcAft>
                    <a:spcPts val="600"/>
                  </a:spcAft>
                </a:pPr>
                <a:r>
                  <a:rPr lang="ru-RU" sz="1800" dirty="0">
                    <a:effectLst/>
                    <a:latin typeface="Calibri" panose="020F0502020204030204" pitchFamily="34" charset="0"/>
                    <a:ea typeface="Times New Roman" panose="02020603050405020304" pitchFamily="18" charset="0"/>
                  </a:rPr>
                  <a:t>- </a:t>
                </a:r>
                <a14:m>
                  <m:oMath xmlns:m="http://schemas.openxmlformats.org/officeDocument/2006/math">
                    <m:r>
                      <m:rPr>
                        <m:lit/>
                      </m:rPr>
                      <a:rPr lang="ru-RU" sz="1800" i="1">
                        <a:effectLst/>
                        <a:latin typeface="Cambria Math" panose="02040503050406030204" pitchFamily="18" charset="0"/>
                        <a:ea typeface="Times New Roman" panose="02020603050405020304" pitchFamily="18" charset="0"/>
                        <a:cs typeface="Calibri" panose="020F0502020204030204" pitchFamily="34" charset="0"/>
                      </a:rPr>
                      <m:t>(</m:t>
                    </m:r>
                    <m:r>
                      <a:rPr lang="ru-RU" sz="1800" i="1">
                        <a:effectLst/>
                        <a:latin typeface="Cambria Math" panose="02040503050406030204" pitchFamily="18" charset="0"/>
                        <a:ea typeface="Times New Roman" panose="02020603050405020304" pitchFamily="18" charset="0"/>
                        <a:cs typeface="Calibri" panose="020F0502020204030204" pitchFamily="34" charset="0"/>
                      </a:rPr>
                      <m:t>𝑣</m:t>
                    </m:r>
                    <m:r>
                      <m:rPr>
                        <m:lit/>
                      </m:rPr>
                      <a:rPr lang="ru-RU" sz="1800" i="1">
                        <a:effectLst/>
                        <a:latin typeface="Cambria Math" panose="02040503050406030204" pitchFamily="18" charset="0"/>
                        <a:ea typeface="Times New Roman" panose="02020603050405020304" pitchFamily="18" charset="0"/>
                        <a:cs typeface="Calibri" panose="020F0502020204030204" pitchFamily="34" charset="0"/>
                      </a:rPr>
                      <m:t>)</m:t>
                    </m:r>
                  </m:oMath>
                </a14:m>
                <a:r>
                  <a:rPr lang="ru-RU" sz="1800" dirty="0">
                    <a:effectLst/>
                    <a:latin typeface="Calibri" panose="020F0502020204030204" pitchFamily="34" charset="0"/>
                    <a:ea typeface="Times New Roman" panose="02020603050405020304" pitchFamily="18" charset="0"/>
                  </a:rPr>
                  <a:t> — скорость (м/с) </a:t>
                </a:r>
                <a:endParaRPr lang="ru-RU" sz="1800" dirty="0">
                  <a:effectLst/>
                  <a:latin typeface="Times New Roman" panose="02020603050405020304" pitchFamily="18" charset="0"/>
                  <a:ea typeface="Times New Roman" panose="02020603050405020304" pitchFamily="18" charset="0"/>
                </a:endParaRPr>
              </a:p>
              <a:p>
                <a:pPr>
                  <a:spcAft>
                    <a:spcPts val="600"/>
                  </a:spcAft>
                </a:pPr>
                <a:r>
                  <a:rPr lang="ru-RU" sz="1800" dirty="0">
                    <a:effectLst/>
                    <a:latin typeface="Calibri" panose="020F0502020204030204" pitchFamily="34" charset="0"/>
                    <a:ea typeface="Times New Roman" panose="02020603050405020304" pitchFamily="18" charset="0"/>
                  </a:rPr>
                  <a:t>- </a:t>
                </a:r>
                <a14:m>
                  <m:oMath xmlns:m="http://schemas.openxmlformats.org/officeDocument/2006/math">
                    <m:r>
                      <m:rPr>
                        <m:lit/>
                      </m:rPr>
                      <a:rPr lang="ru-RU" sz="1800" i="1">
                        <a:effectLst/>
                        <a:latin typeface="Cambria Math" panose="02040503050406030204" pitchFamily="18" charset="0"/>
                        <a:ea typeface="Times New Roman" panose="02020603050405020304" pitchFamily="18" charset="0"/>
                        <a:cs typeface="Calibri" panose="020F0502020204030204" pitchFamily="34" charset="0"/>
                      </a:rPr>
                      <m:t>(</m:t>
                    </m:r>
                    <m:r>
                      <a:rPr lang="ru-RU" sz="1800" i="1">
                        <a:effectLst/>
                        <a:latin typeface="Cambria Math" panose="02040503050406030204" pitchFamily="18" charset="0"/>
                        <a:ea typeface="Times New Roman" panose="02020603050405020304" pitchFamily="18" charset="0"/>
                        <a:cs typeface="Calibri" panose="020F0502020204030204" pitchFamily="34" charset="0"/>
                      </a:rPr>
                      <m:t>𝐴</m:t>
                    </m:r>
                    <m:r>
                      <m:rPr>
                        <m:lit/>
                      </m:rPr>
                      <a:rPr lang="ru-RU" sz="1800" i="1">
                        <a:effectLst/>
                        <a:latin typeface="Cambria Math" panose="02040503050406030204" pitchFamily="18" charset="0"/>
                        <a:ea typeface="Times New Roman" panose="02020603050405020304" pitchFamily="18" charset="0"/>
                        <a:cs typeface="Calibri" panose="020F0502020204030204" pitchFamily="34" charset="0"/>
                      </a:rPr>
                      <m:t>)</m:t>
                    </m:r>
                  </m:oMath>
                </a14:m>
                <a:r>
                  <a:rPr lang="ru-RU" sz="1800" dirty="0">
                    <a:effectLst/>
                    <a:latin typeface="Calibri" panose="020F0502020204030204" pitchFamily="34" charset="0"/>
                    <a:ea typeface="Times New Roman" panose="02020603050405020304" pitchFamily="18" charset="0"/>
                  </a:rPr>
                  <a:t> — характерная площадь поп. сечения (м²) </a:t>
                </a:r>
                <a:endParaRPr lang="ru-RU" sz="1800" dirty="0">
                  <a:effectLst/>
                  <a:latin typeface="Times New Roman" panose="02020603050405020304" pitchFamily="18" charset="0"/>
                  <a:ea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F8CFBDAA-B845-4C53-8511-67F56157498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49620" y="683763"/>
                <a:ext cx="4947744" cy="2734595"/>
              </a:xfrm>
              <a:prstGeom prst="rect">
                <a:avLst/>
              </a:prstGeom>
              <a:blipFill>
                <a:blip r:embed="rId2"/>
                <a:stretch>
                  <a:fillRect l="-983" t="-887" b="-2439"/>
                </a:stretch>
              </a:blipFill>
              <a:ln>
                <a:solidFill>
                  <a:schemeClr val="tx1">
                    <a:lumMod val="50000"/>
                    <a:lumOff val="50000"/>
                  </a:schemeClr>
                </a:solidFill>
              </a:ln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98C239B4-0FFD-4322-9B37-292DBF6807A0}"/>
                  </a:ext>
                </a:extLst>
              </p:cNvPr>
              <p:cNvSpPr txBox="1"/>
              <p:nvPr/>
            </p:nvSpPr>
            <p:spPr>
              <a:xfrm>
                <a:off x="5552088" y="933960"/>
                <a:ext cx="4947745" cy="2484398"/>
              </a:xfrm>
              <a:prstGeom prst="rect">
                <a:avLst/>
              </a:prstGeom>
              <a:noFill/>
              <a:ln>
                <a:solidFill>
                  <a:schemeClr val="tx1">
                    <a:lumMod val="50000"/>
                    <a:lumOff val="50000"/>
                  </a:schemeClr>
                </a:solidFill>
              </a:ln>
            </p:spPr>
            <p:txBody>
              <a:bodyPr wrap="square">
                <a:spAutoFit/>
              </a:bodyPr>
              <a:lstStyle/>
              <a:p>
                <a:pPr>
                  <a:spcAft>
                    <a:spcPts val="600"/>
                  </a:spcAft>
                </a:pPr>
                <a:r>
                  <a:rPr lang="ru-RU" sz="1800" b="1" dirty="0">
                    <a:effectLst/>
                    <a:latin typeface="Calibri" panose="020F0502020204030204" pitchFamily="34" charset="0"/>
                    <a:ea typeface="Times New Roman" panose="02020603050405020304" pitchFamily="18" charset="0"/>
                  </a:rPr>
                  <a:t>Плотность воздуха</a:t>
                </a:r>
                <a:r>
                  <a:rPr lang="ru-RU" sz="1800" dirty="0">
                    <a:effectLst/>
                    <a:latin typeface="Calibri" panose="020F0502020204030204" pitchFamily="34" charset="0"/>
                    <a:ea typeface="Times New Roman" panose="02020603050405020304" pitchFamily="18" charset="0"/>
                  </a:rPr>
                  <a:t> </a:t>
                </a:r>
                <a:endParaRPr lang="ru-RU" sz="1800" dirty="0">
                  <a:effectLst/>
                  <a:latin typeface="Cambria Math" panose="02040503050406030204" pitchFamily="18" charset="0"/>
                  <a:ea typeface="Times New Roman" panose="02020603050405020304" pitchFamily="18" charset="0"/>
                  <a:cs typeface="Calibri" panose="020F0502020204030204" pitchFamily="34" charset="0"/>
                </a:endParaRPr>
              </a:p>
              <a:p>
                <a:pPr>
                  <a:spcAft>
                    <a:spcPts val="600"/>
                  </a:spcAft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sz="1800" smtClean="0">
                          <a:effectLst/>
                          <a:latin typeface="Cambria Math" panose="02040503050406030204" pitchFamily="18" charset="0"/>
                          <a:ea typeface="Times New Roman" panose="02020603050405020304" pitchFamily="18" charset="0"/>
                          <a:cs typeface="Calibri" panose="020F0502020204030204" pitchFamily="34" charset="0"/>
                        </a:rPr>
                        <m:t>ρ</m:t>
                      </m:r>
                      <m:d>
                        <m:dPr>
                          <m:ctrlPr>
                            <a:rPr lang="ru-RU" sz="1800" i="1">
                              <a:effectLst/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Calibri" panose="020F0502020204030204" pitchFamily="34" charset="0"/>
                            </a:rPr>
                          </m:ctrlPr>
                        </m:dPr>
                        <m:e>
                          <m:r>
                            <a:rPr lang="en-US" sz="1800" i="1">
                              <a:effectLst/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Calibri" panose="020F0502020204030204" pitchFamily="34" charset="0"/>
                            </a:rPr>
                            <m:t>h</m:t>
                          </m:r>
                        </m:e>
                      </m:d>
                      <m:r>
                        <a:rPr lang="en-US" sz="1800" i="1">
                          <a:effectLst/>
                          <a:latin typeface="Cambria Math" panose="02040503050406030204" pitchFamily="18" charset="0"/>
                          <a:ea typeface="Times New Roman" panose="02020603050405020304" pitchFamily="18" charset="0"/>
                          <a:cs typeface="Calibri" panose="020F0502020204030204" pitchFamily="34" charset="0"/>
                        </a:rPr>
                        <m:t>=</m:t>
                      </m:r>
                      <m:sSub>
                        <m:sSubPr>
                          <m:ctrlPr>
                            <a:rPr lang="ru-RU" sz="1800" i="1">
                              <a:effectLst/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Calibri" panose="020F0502020204030204" pitchFamily="34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sz="1800">
                              <a:effectLst/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Calibri" panose="020F0502020204030204" pitchFamily="34" charset="0"/>
                            </a:rPr>
                            <m:t>ρ</m:t>
                          </m:r>
                        </m:e>
                        <m:sub>
                          <m:r>
                            <a:rPr lang="en-US" sz="1800" i="1">
                              <a:effectLst/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Calibri" panose="020F0502020204030204" pitchFamily="34" charset="0"/>
                            </a:rPr>
                            <m:t>0</m:t>
                          </m:r>
                        </m:sub>
                      </m:sSub>
                      <m:func>
                        <m:funcPr>
                          <m:ctrlPr>
                            <a:rPr lang="ru-RU" sz="1800" i="1">
                              <a:effectLst/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Calibri" panose="020F0502020204030204" pitchFamily="34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US" sz="1800">
                              <a:effectLst/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Calibri" panose="020F0502020204030204" pitchFamily="34" charset="0"/>
                            </a:rPr>
                            <m:t>exp</m:t>
                          </m:r>
                        </m:fName>
                        <m:e>
                          <m:d>
                            <m:dPr>
                              <m:ctrlPr>
                                <a:rPr lang="ru-RU" sz="1800" i="1">
                                  <a:effectLst/>
                                  <a:latin typeface="Cambria Math" panose="02040503050406030204" pitchFamily="18" charset="0"/>
                                  <a:ea typeface="Times New Roman" panose="02020603050405020304" pitchFamily="18" charset="0"/>
                                  <a:cs typeface="Calibri" panose="020F0502020204030204" pitchFamily="34" charset="0"/>
                                </a:rPr>
                              </m:ctrlPr>
                            </m:dPr>
                            <m:e>
                              <m:r>
                                <a:rPr lang="en-US" sz="1800" i="1">
                                  <a:effectLst/>
                                  <a:latin typeface="Cambria Math" panose="02040503050406030204" pitchFamily="18" charset="0"/>
                                  <a:ea typeface="Times New Roman" panose="02020603050405020304" pitchFamily="18" charset="0"/>
                                  <a:cs typeface="Calibri" panose="020F0502020204030204" pitchFamily="34" charset="0"/>
                                </a:rPr>
                                <m:t>−</m:t>
                              </m:r>
                              <m:f>
                                <m:fPr>
                                  <m:ctrlPr>
                                    <a:rPr lang="ru-RU" sz="1800" i="1">
                                      <a:effectLst/>
                                      <a:latin typeface="Cambria Math" panose="02040503050406030204" pitchFamily="18" charset="0"/>
                                      <a:ea typeface="Times New Roman" panose="02020603050405020304" pitchFamily="18" charset="0"/>
                                      <a:cs typeface="Calibri" panose="020F0502020204030204" pitchFamily="34" charset="0"/>
                                    </a:rPr>
                                  </m:ctrlPr>
                                </m:fPr>
                                <m:num>
                                  <m:r>
                                    <a:rPr lang="en-US" sz="1800" i="1">
                                      <a:effectLst/>
                                      <a:latin typeface="Cambria Math" panose="02040503050406030204" pitchFamily="18" charset="0"/>
                                      <a:ea typeface="Times New Roman" panose="02020603050405020304" pitchFamily="18" charset="0"/>
                                      <a:cs typeface="Calibri" panose="020F0502020204030204" pitchFamily="34" charset="0"/>
                                    </a:rPr>
                                    <m:t>h</m:t>
                                  </m:r>
                                </m:num>
                                <m:den>
                                  <m:r>
                                    <a:rPr lang="en-US" sz="1800" i="1">
                                      <a:effectLst/>
                                      <a:latin typeface="Cambria Math" panose="02040503050406030204" pitchFamily="18" charset="0"/>
                                      <a:ea typeface="Times New Roman" panose="02020603050405020304" pitchFamily="18" charset="0"/>
                                      <a:cs typeface="Calibri" panose="020F0502020204030204" pitchFamily="34" charset="0"/>
                                    </a:rPr>
                                    <m:t>𝐻</m:t>
                                  </m:r>
                                </m:den>
                              </m:f>
                            </m:e>
                          </m:d>
                        </m:e>
                      </m:func>
                    </m:oMath>
                  </m:oMathPara>
                </a14:m>
                <a:endParaRPr lang="ru-RU" sz="1800" dirty="0">
                  <a:effectLst/>
                  <a:latin typeface="Times New Roman" panose="02020603050405020304" pitchFamily="18" charset="0"/>
                  <a:ea typeface="Times New Roman" panose="02020603050405020304" pitchFamily="18" charset="0"/>
                </a:endParaRPr>
              </a:p>
              <a:p>
                <a:pPr>
                  <a:spcAft>
                    <a:spcPts val="600"/>
                  </a:spcAft>
                </a:pPr>
                <a:r>
                  <a:rPr lang="ru-RU" sz="1800" dirty="0">
                    <a:effectLst/>
                    <a:latin typeface="Calibri" panose="020F0502020204030204" pitchFamily="34" charset="0"/>
                    <a:ea typeface="Times New Roman" panose="02020603050405020304" pitchFamily="18" charset="0"/>
                  </a:rPr>
                  <a:t>- </a:t>
                </a:r>
                <a14:m>
                  <m:oMath xmlns:m="http://schemas.openxmlformats.org/officeDocument/2006/math">
                    <m:r>
                      <m:rPr>
                        <m:lit/>
                      </m:rPr>
                      <a:rPr lang="ru-RU" sz="1800" i="1">
                        <a:effectLst/>
                        <a:latin typeface="Cambria Math" panose="02040503050406030204" pitchFamily="18" charset="0"/>
                        <a:ea typeface="Times New Roman" panose="02020603050405020304" pitchFamily="18" charset="0"/>
                        <a:cs typeface="Calibri" panose="020F0502020204030204" pitchFamily="34" charset="0"/>
                      </a:rPr>
                      <m:t>(</m:t>
                    </m:r>
                    <m:r>
                      <m:rPr>
                        <m:sty m:val="p"/>
                      </m:rPr>
                      <a:rPr lang="ru-RU" sz="1800">
                        <a:effectLst/>
                        <a:latin typeface="Cambria Math" panose="02040503050406030204" pitchFamily="18" charset="0"/>
                        <a:ea typeface="Times New Roman" panose="02020603050405020304" pitchFamily="18" charset="0"/>
                        <a:cs typeface="Calibri" panose="020F0502020204030204" pitchFamily="34" charset="0"/>
                      </a:rPr>
                      <m:t>ρ</m:t>
                    </m:r>
                    <m:d>
                      <m:dPr>
                        <m:ctrlPr>
                          <a:rPr lang="ru-RU" sz="1800" i="1">
                            <a:effectLst/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Calibri" panose="020F0502020204030204" pitchFamily="34" charset="0"/>
                          </a:rPr>
                        </m:ctrlPr>
                      </m:dPr>
                      <m:e>
                        <m:r>
                          <a:rPr lang="ru-RU" sz="1800" i="1">
                            <a:effectLst/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Calibri" panose="020F0502020204030204" pitchFamily="34" charset="0"/>
                          </a:rPr>
                          <m:t>h</m:t>
                        </m:r>
                      </m:e>
                    </m:d>
                    <m:r>
                      <m:rPr>
                        <m:lit/>
                      </m:rPr>
                      <a:rPr lang="ru-RU" sz="1800" i="1">
                        <a:effectLst/>
                        <a:latin typeface="Cambria Math" panose="02040503050406030204" pitchFamily="18" charset="0"/>
                        <a:ea typeface="Times New Roman" panose="02020603050405020304" pitchFamily="18" charset="0"/>
                        <a:cs typeface="Calibri" panose="020F0502020204030204" pitchFamily="34" charset="0"/>
                      </a:rPr>
                      <m:t>)</m:t>
                    </m:r>
                  </m:oMath>
                </a14:m>
                <a:r>
                  <a:rPr lang="ru-RU" sz="1800" dirty="0">
                    <a:effectLst/>
                    <a:latin typeface="Calibri" panose="020F0502020204030204" pitchFamily="34" charset="0"/>
                    <a:ea typeface="Times New Roman" panose="02020603050405020304" pitchFamily="18" charset="0"/>
                  </a:rPr>
                  <a:t> — плотность на высоте (кг/м³) </a:t>
                </a:r>
                <a:endParaRPr lang="ru-RU" sz="1800" dirty="0">
                  <a:effectLst/>
                  <a:latin typeface="Times New Roman" panose="02020603050405020304" pitchFamily="18" charset="0"/>
                  <a:ea typeface="Times New Roman" panose="02020603050405020304" pitchFamily="18" charset="0"/>
                </a:endParaRPr>
              </a:p>
              <a:p>
                <a:pPr>
                  <a:spcAft>
                    <a:spcPts val="600"/>
                  </a:spcAft>
                </a:pPr>
                <a:r>
                  <a:rPr lang="ru-RU" sz="1800" dirty="0">
                    <a:effectLst/>
                    <a:latin typeface="Calibri" panose="020F0502020204030204" pitchFamily="34" charset="0"/>
                    <a:ea typeface="Times New Roman" panose="02020603050405020304" pitchFamily="18" charset="0"/>
                  </a:rPr>
                  <a:t>- </a:t>
                </a:r>
                <a14:m>
                  <m:oMath xmlns:m="http://schemas.openxmlformats.org/officeDocument/2006/math">
                    <m:r>
                      <m:rPr>
                        <m:lit/>
                      </m:rPr>
                      <a:rPr lang="ru-RU" sz="1800" i="1">
                        <a:effectLst/>
                        <a:latin typeface="Cambria Math" panose="02040503050406030204" pitchFamily="18" charset="0"/>
                        <a:ea typeface="Times New Roman" panose="02020603050405020304" pitchFamily="18" charset="0"/>
                        <a:cs typeface="Calibri" panose="020F0502020204030204" pitchFamily="34" charset="0"/>
                      </a:rPr>
                      <m:t>(</m:t>
                    </m:r>
                    <m:sSub>
                      <m:sSubPr>
                        <m:ctrlPr>
                          <a:rPr lang="ru-RU" sz="1800" i="1">
                            <a:effectLst/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Calibri" panose="020F0502020204030204" pitchFamily="34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ru-RU" sz="1800">
                            <a:effectLst/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Calibri" panose="020F0502020204030204" pitchFamily="34" charset="0"/>
                          </a:rPr>
                          <m:t>ρ</m:t>
                        </m:r>
                      </m:e>
                      <m:sub>
                        <m:r>
                          <a:rPr lang="ru-RU" sz="1800" i="1">
                            <a:effectLst/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Calibri" panose="020F0502020204030204" pitchFamily="34" charset="0"/>
                          </a:rPr>
                          <m:t>0</m:t>
                        </m:r>
                      </m:sub>
                    </m:sSub>
                    <m:r>
                      <m:rPr>
                        <m:lit/>
                      </m:rPr>
                      <a:rPr lang="ru-RU" sz="1800" i="1">
                        <a:effectLst/>
                        <a:latin typeface="Cambria Math" panose="02040503050406030204" pitchFamily="18" charset="0"/>
                        <a:ea typeface="Times New Roman" panose="02020603050405020304" pitchFamily="18" charset="0"/>
                        <a:cs typeface="Calibri" panose="020F0502020204030204" pitchFamily="34" charset="0"/>
                      </a:rPr>
                      <m:t>)</m:t>
                    </m:r>
                  </m:oMath>
                </a14:m>
                <a:r>
                  <a:rPr lang="ru-RU" sz="1800" dirty="0">
                    <a:effectLst/>
                    <a:latin typeface="Calibri" panose="020F0502020204030204" pitchFamily="34" charset="0"/>
                    <a:ea typeface="Times New Roman" panose="02020603050405020304" pitchFamily="18" charset="0"/>
                  </a:rPr>
                  <a:t> — плотность на уровне моря (1.225 кг/м³) </a:t>
                </a:r>
                <a:endParaRPr lang="ru-RU" sz="1800" dirty="0">
                  <a:effectLst/>
                  <a:latin typeface="Times New Roman" panose="02020603050405020304" pitchFamily="18" charset="0"/>
                  <a:ea typeface="Times New Roman" panose="02020603050405020304" pitchFamily="18" charset="0"/>
                </a:endParaRPr>
              </a:p>
              <a:p>
                <a:pPr>
                  <a:spcAft>
                    <a:spcPts val="600"/>
                  </a:spcAft>
                </a:pPr>
                <a:r>
                  <a:rPr lang="ru-RU" sz="1800" dirty="0">
                    <a:effectLst/>
                    <a:latin typeface="Calibri" panose="020F0502020204030204" pitchFamily="34" charset="0"/>
                    <a:ea typeface="Times New Roman" panose="02020603050405020304" pitchFamily="18" charset="0"/>
                  </a:rPr>
                  <a:t>- </a:t>
                </a:r>
                <a14:m>
                  <m:oMath xmlns:m="http://schemas.openxmlformats.org/officeDocument/2006/math">
                    <m:r>
                      <m:rPr>
                        <m:lit/>
                      </m:rPr>
                      <a:rPr lang="ru-RU" sz="1800" i="1">
                        <a:effectLst/>
                        <a:latin typeface="Cambria Math" panose="02040503050406030204" pitchFamily="18" charset="0"/>
                        <a:ea typeface="Times New Roman" panose="02020603050405020304" pitchFamily="18" charset="0"/>
                        <a:cs typeface="Calibri" panose="020F0502020204030204" pitchFamily="34" charset="0"/>
                      </a:rPr>
                      <m:t>(</m:t>
                    </m:r>
                    <m:r>
                      <a:rPr lang="ru-RU" sz="1800" i="1">
                        <a:effectLst/>
                        <a:latin typeface="Cambria Math" panose="02040503050406030204" pitchFamily="18" charset="0"/>
                        <a:ea typeface="Times New Roman" panose="02020603050405020304" pitchFamily="18" charset="0"/>
                        <a:cs typeface="Calibri" panose="020F0502020204030204" pitchFamily="34" charset="0"/>
                      </a:rPr>
                      <m:t>𝐻</m:t>
                    </m:r>
                    <m:r>
                      <m:rPr>
                        <m:lit/>
                      </m:rPr>
                      <a:rPr lang="ru-RU" sz="1800" i="1">
                        <a:effectLst/>
                        <a:latin typeface="Cambria Math" panose="02040503050406030204" pitchFamily="18" charset="0"/>
                        <a:ea typeface="Times New Roman" panose="02020603050405020304" pitchFamily="18" charset="0"/>
                        <a:cs typeface="Calibri" panose="020F0502020204030204" pitchFamily="34" charset="0"/>
                      </a:rPr>
                      <m:t>)</m:t>
                    </m:r>
                  </m:oMath>
                </a14:m>
                <a:r>
                  <a:rPr lang="ru-RU" sz="1800" dirty="0">
                    <a:effectLst/>
                    <a:latin typeface="Calibri" panose="020F0502020204030204" pitchFamily="34" charset="0"/>
                    <a:ea typeface="Times New Roman" panose="02020603050405020304" pitchFamily="18" charset="0"/>
                  </a:rPr>
                  <a:t> — высота масштаба атмосферы (8500 м) </a:t>
                </a:r>
                <a:endParaRPr lang="ru-RU" sz="1800" dirty="0">
                  <a:effectLst/>
                  <a:latin typeface="Times New Roman" panose="02020603050405020304" pitchFamily="18" charset="0"/>
                  <a:ea typeface="Times New Roman" panose="02020603050405020304" pitchFamily="18" charset="0"/>
                </a:endParaRPr>
              </a:p>
              <a:p>
                <a:pPr>
                  <a:spcAft>
                    <a:spcPts val="600"/>
                  </a:spcAft>
                </a:pPr>
                <a:r>
                  <a:rPr lang="ru-RU" sz="1800" dirty="0">
                    <a:effectLst/>
                    <a:latin typeface="Calibri" panose="020F0502020204030204" pitchFamily="34" charset="0"/>
                    <a:ea typeface="Times New Roman" panose="02020603050405020304" pitchFamily="18" charset="0"/>
                  </a:rPr>
                  <a:t>- </a:t>
                </a:r>
                <a14:m>
                  <m:oMath xmlns:m="http://schemas.openxmlformats.org/officeDocument/2006/math">
                    <m:r>
                      <m:rPr>
                        <m:lit/>
                      </m:rPr>
                      <a:rPr lang="ru-RU" sz="1800" i="1">
                        <a:effectLst/>
                        <a:latin typeface="Cambria Math" panose="02040503050406030204" pitchFamily="18" charset="0"/>
                        <a:ea typeface="Times New Roman" panose="02020603050405020304" pitchFamily="18" charset="0"/>
                        <a:cs typeface="Calibri" panose="020F0502020204030204" pitchFamily="34" charset="0"/>
                      </a:rPr>
                      <m:t>(</m:t>
                    </m:r>
                    <m:r>
                      <a:rPr lang="ru-RU" sz="1800" i="1">
                        <a:effectLst/>
                        <a:latin typeface="Cambria Math" panose="02040503050406030204" pitchFamily="18" charset="0"/>
                        <a:ea typeface="Times New Roman" panose="02020603050405020304" pitchFamily="18" charset="0"/>
                        <a:cs typeface="Calibri" panose="020F0502020204030204" pitchFamily="34" charset="0"/>
                      </a:rPr>
                      <m:t>h</m:t>
                    </m:r>
                    <m:r>
                      <m:rPr>
                        <m:lit/>
                      </m:rPr>
                      <a:rPr lang="ru-RU" sz="1800" i="1">
                        <a:effectLst/>
                        <a:latin typeface="Cambria Math" panose="02040503050406030204" pitchFamily="18" charset="0"/>
                        <a:ea typeface="Times New Roman" panose="02020603050405020304" pitchFamily="18" charset="0"/>
                        <a:cs typeface="Calibri" panose="020F0502020204030204" pitchFamily="34" charset="0"/>
                      </a:rPr>
                      <m:t>)</m:t>
                    </m:r>
                  </m:oMath>
                </a14:m>
                <a:r>
                  <a:rPr lang="ru-RU" sz="1800" dirty="0">
                    <a:effectLst/>
                    <a:latin typeface="Calibri" panose="020F0502020204030204" pitchFamily="34" charset="0"/>
                    <a:ea typeface="Times New Roman" panose="02020603050405020304" pitchFamily="18" charset="0"/>
                  </a:rPr>
                  <a:t> — высота (м) </a:t>
                </a:r>
                <a:endParaRPr lang="ru-RU" sz="1800" dirty="0">
                  <a:effectLst/>
                  <a:latin typeface="Times New Roman" panose="02020603050405020304" pitchFamily="18" charset="0"/>
                  <a:ea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98C239B4-0FFD-4322-9B37-292DBF6807A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552088" y="933960"/>
                <a:ext cx="4947745" cy="2484398"/>
              </a:xfrm>
              <a:prstGeom prst="rect">
                <a:avLst/>
              </a:prstGeom>
              <a:blipFill>
                <a:blip r:embed="rId3"/>
                <a:stretch>
                  <a:fillRect l="-984" t="-976" r="-369" b="-2683"/>
                </a:stretch>
              </a:blipFill>
              <a:ln>
                <a:solidFill>
                  <a:schemeClr val="tx1">
                    <a:lumMod val="50000"/>
                    <a:lumOff val="50000"/>
                  </a:schemeClr>
                </a:solidFill>
              </a:ln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A7010AF4-E67F-4CE0-A7C0-A9F5264FE515}"/>
                  </a:ext>
                </a:extLst>
              </p:cNvPr>
              <p:cNvSpPr txBox="1"/>
              <p:nvPr/>
            </p:nvSpPr>
            <p:spPr>
              <a:xfrm>
                <a:off x="591205" y="3985113"/>
                <a:ext cx="4264574" cy="2751972"/>
              </a:xfrm>
              <a:prstGeom prst="rect">
                <a:avLst/>
              </a:prstGeom>
              <a:noFill/>
              <a:ln>
                <a:solidFill>
                  <a:schemeClr val="tx1">
                    <a:lumMod val="50000"/>
                    <a:lumOff val="50000"/>
                  </a:schemeClr>
                </a:solidFill>
              </a:ln>
            </p:spPr>
            <p:txBody>
              <a:bodyPr wrap="square">
                <a:spAutoFit/>
              </a:bodyPr>
              <a:lstStyle/>
              <a:p>
                <a:pPr>
                  <a:spcAft>
                    <a:spcPts val="600"/>
                  </a:spcAft>
                </a:pPr>
                <a:r>
                  <a:rPr lang="ru-RU" sz="1800" b="1" dirty="0">
                    <a:effectLst/>
                    <a:latin typeface="Calibri" panose="020F0502020204030204" pitchFamily="34" charset="0"/>
                    <a:ea typeface="Times New Roman" panose="02020603050405020304" pitchFamily="18" charset="0"/>
                  </a:rPr>
                  <a:t>Уравнение движения ракеты</a:t>
                </a:r>
                <a:r>
                  <a:rPr lang="ru-RU" sz="1800" dirty="0">
                    <a:effectLst/>
                    <a:latin typeface="Calibri" panose="020F0502020204030204" pitchFamily="34" charset="0"/>
                    <a:ea typeface="Times New Roman" panose="02020603050405020304" pitchFamily="18" charset="0"/>
                  </a:rPr>
                  <a:t> </a:t>
                </a:r>
                <a:endParaRPr lang="ru-RU" sz="1800" i="1" dirty="0">
                  <a:effectLst/>
                  <a:latin typeface="Cambria Math" panose="02040503050406030204" pitchFamily="18" charset="0"/>
                  <a:ea typeface="Times New Roman" panose="02020603050405020304" pitchFamily="18" charset="0"/>
                  <a:cs typeface="Calibri" panose="020F0502020204030204" pitchFamily="34" charset="0"/>
                </a:endParaRPr>
              </a:p>
              <a:p>
                <a:pPr>
                  <a:spcAft>
                    <a:spcPts val="600"/>
                  </a:spcAft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800" i="1">
                          <a:effectLst/>
                          <a:latin typeface="Cambria Math" panose="02040503050406030204" pitchFamily="18" charset="0"/>
                          <a:ea typeface="Times New Roman" panose="02020603050405020304" pitchFamily="18" charset="0"/>
                          <a:cs typeface="Calibri" panose="020F0502020204030204" pitchFamily="34" charset="0"/>
                        </a:rPr>
                        <m:t>𝑎</m:t>
                      </m:r>
                      <m:r>
                        <a:rPr lang="en-US" sz="1800" i="1">
                          <a:effectLst/>
                          <a:latin typeface="Cambria Math" panose="02040503050406030204" pitchFamily="18" charset="0"/>
                          <a:ea typeface="Times New Roman" panose="02020603050405020304" pitchFamily="18" charset="0"/>
                          <a:cs typeface="Calibri" panose="020F0502020204030204" pitchFamily="34" charset="0"/>
                        </a:rPr>
                        <m:t>=</m:t>
                      </m:r>
                      <m:f>
                        <m:fPr>
                          <m:ctrlPr>
                            <a:rPr lang="ru-RU" sz="1800" i="1">
                              <a:effectLst/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Calibri" panose="020F0502020204030204" pitchFamily="34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ru-RU" sz="1800" i="1">
                                  <a:effectLst/>
                                  <a:latin typeface="Cambria Math" panose="02040503050406030204" pitchFamily="18" charset="0"/>
                                  <a:ea typeface="Times New Roman" panose="02020603050405020304" pitchFamily="18" charset="0"/>
                                  <a:cs typeface="Calibri" panose="020F0502020204030204" pitchFamily="34" charset="0"/>
                                </a:rPr>
                              </m:ctrlPr>
                            </m:sSubPr>
                            <m:e>
                              <m:r>
                                <a:rPr lang="en-US" sz="1800" i="1">
                                  <a:effectLst/>
                                  <a:latin typeface="Cambria Math" panose="02040503050406030204" pitchFamily="18" charset="0"/>
                                  <a:ea typeface="Times New Roman" panose="02020603050405020304" pitchFamily="18" charset="0"/>
                                  <a:cs typeface="Calibri" panose="020F0502020204030204" pitchFamily="34" charset="0"/>
                                </a:rPr>
                                <m:t>𝐹</m:t>
                              </m:r>
                            </m:e>
                            <m:sub>
                              <m:r>
                                <m:rPr>
                                  <m:nor/>
                                </m:rPr>
                                <a:rPr lang="en-US" sz="1800">
                                  <a:effectLst/>
                                  <a:latin typeface="Calibri" panose="020F0502020204030204" pitchFamily="34" charset="0"/>
                                  <a:ea typeface="Times New Roman" panose="02020603050405020304" pitchFamily="18" charset="0"/>
                                </a:rPr>
                                <m:t>thrust</m:t>
                              </m:r>
                            </m:sub>
                          </m:sSub>
                          <m:r>
                            <a:rPr lang="en-US" sz="1800" i="1">
                              <a:effectLst/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Calibri" panose="020F0502020204030204" pitchFamily="34" charset="0"/>
                            </a:rPr>
                            <m:t>−</m:t>
                          </m:r>
                          <m:sSub>
                            <m:sSubPr>
                              <m:ctrlPr>
                                <a:rPr lang="ru-RU" sz="1800" i="1">
                                  <a:effectLst/>
                                  <a:latin typeface="Cambria Math" panose="02040503050406030204" pitchFamily="18" charset="0"/>
                                  <a:ea typeface="Times New Roman" panose="02020603050405020304" pitchFamily="18" charset="0"/>
                                  <a:cs typeface="Calibri" panose="020F0502020204030204" pitchFamily="34" charset="0"/>
                                </a:rPr>
                              </m:ctrlPr>
                            </m:sSubPr>
                            <m:e>
                              <m:r>
                                <a:rPr lang="en-US" sz="1800" i="1">
                                  <a:effectLst/>
                                  <a:latin typeface="Cambria Math" panose="02040503050406030204" pitchFamily="18" charset="0"/>
                                  <a:ea typeface="Times New Roman" panose="02020603050405020304" pitchFamily="18" charset="0"/>
                                  <a:cs typeface="Calibri" panose="020F0502020204030204" pitchFamily="34" charset="0"/>
                                </a:rPr>
                                <m:t>𝐹</m:t>
                              </m:r>
                            </m:e>
                            <m:sub>
                              <m:r>
                                <a:rPr lang="en-US" sz="1800" i="1">
                                  <a:effectLst/>
                                  <a:latin typeface="Cambria Math" panose="02040503050406030204" pitchFamily="18" charset="0"/>
                                  <a:ea typeface="Times New Roman" panose="02020603050405020304" pitchFamily="18" charset="0"/>
                                  <a:cs typeface="Calibri" panose="020F0502020204030204" pitchFamily="34" charset="0"/>
                                </a:rPr>
                                <m:t>𝑑</m:t>
                              </m:r>
                            </m:sub>
                          </m:sSub>
                          <m:r>
                            <a:rPr lang="en-US" sz="1800" i="1">
                              <a:effectLst/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Calibri" panose="020F0502020204030204" pitchFamily="34" charset="0"/>
                            </a:rPr>
                            <m:t>−</m:t>
                          </m:r>
                          <m:r>
                            <a:rPr lang="en-US" sz="1800" i="1">
                              <a:effectLst/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Calibri" panose="020F0502020204030204" pitchFamily="34" charset="0"/>
                            </a:rPr>
                            <m:t>𝑚𝑔</m:t>
                          </m:r>
                        </m:num>
                        <m:den>
                          <m:r>
                            <a:rPr lang="en-US" sz="1800" i="1">
                              <a:effectLst/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Calibri" panose="020F0502020204030204" pitchFamily="34" charset="0"/>
                            </a:rPr>
                            <m:t>𝑚</m:t>
                          </m:r>
                        </m:den>
                      </m:f>
                    </m:oMath>
                  </m:oMathPara>
                </a14:m>
                <a:endParaRPr lang="ru-RU" sz="1800" dirty="0">
                  <a:effectLst/>
                  <a:latin typeface="Times New Roman" panose="02020603050405020304" pitchFamily="18" charset="0"/>
                  <a:ea typeface="Times New Roman" panose="02020603050405020304" pitchFamily="18" charset="0"/>
                </a:endParaRPr>
              </a:p>
              <a:p>
                <a:pPr>
                  <a:spcAft>
                    <a:spcPts val="600"/>
                  </a:spcAft>
                </a:pPr>
                <a:r>
                  <a:rPr lang="ru-RU" sz="1800" dirty="0">
                    <a:effectLst/>
                    <a:latin typeface="Calibri" panose="020F0502020204030204" pitchFamily="34" charset="0"/>
                    <a:ea typeface="Times New Roman" panose="02020603050405020304" pitchFamily="18" charset="0"/>
                  </a:rPr>
                  <a:t>- </a:t>
                </a:r>
                <a14:m>
                  <m:oMath xmlns:m="http://schemas.openxmlformats.org/officeDocument/2006/math">
                    <m:r>
                      <m:rPr>
                        <m:lit/>
                      </m:rPr>
                      <a:rPr lang="ru-RU" sz="1800" i="1">
                        <a:effectLst/>
                        <a:latin typeface="Cambria Math" panose="02040503050406030204" pitchFamily="18" charset="0"/>
                        <a:ea typeface="Times New Roman" panose="02020603050405020304" pitchFamily="18" charset="0"/>
                        <a:cs typeface="Calibri" panose="020F0502020204030204" pitchFamily="34" charset="0"/>
                      </a:rPr>
                      <m:t>(</m:t>
                    </m:r>
                    <m:r>
                      <a:rPr lang="ru-RU" sz="1800" i="1">
                        <a:effectLst/>
                        <a:latin typeface="Cambria Math" panose="02040503050406030204" pitchFamily="18" charset="0"/>
                        <a:ea typeface="Times New Roman" panose="02020603050405020304" pitchFamily="18" charset="0"/>
                        <a:cs typeface="Calibri" panose="020F0502020204030204" pitchFamily="34" charset="0"/>
                      </a:rPr>
                      <m:t>𝑎</m:t>
                    </m:r>
                    <m:r>
                      <m:rPr>
                        <m:lit/>
                      </m:rPr>
                      <a:rPr lang="ru-RU" sz="1800" i="1">
                        <a:effectLst/>
                        <a:latin typeface="Cambria Math" panose="02040503050406030204" pitchFamily="18" charset="0"/>
                        <a:ea typeface="Times New Roman" panose="02020603050405020304" pitchFamily="18" charset="0"/>
                        <a:cs typeface="Calibri" panose="020F0502020204030204" pitchFamily="34" charset="0"/>
                      </a:rPr>
                      <m:t>)</m:t>
                    </m:r>
                  </m:oMath>
                </a14:m>
                <a:r>
                  <a:rPr lang="ru-RU" sz="1800" dirty="0">
                    <a:effectLst/>
                    <a:latin typeface="Calibri" panose="020F0502020204030204" pitchFamily="34" charset="0"/>
                    <a:ea typeface="Times New Roman" panose="02020603050405020304" pitchFamily="18" charset="0"/>
                  </a:rPr>
                  <a:t> — ускорение (м/с²) </a:t>
                </a:r>
                <a:endParaRPr lang="ru-RU" sz="1800" dirty="0">
                  <a:effectLst/>
                  <a:latin typeface="Times New Roman" panose="02020603050405020304" pitchFamily="18" charset="0"/>
                  <a:ea typeface="Times New Roman" panose="02020603050405020304" pitchFamily="18" charset="0"/>
                </a:endParaRPr>
              </a:p>
              <a:p>
                <a:pPr>
                  <a:spcAft>
                    <a:spcPts val="600"/>
                  </a:spcAft>
                </a:pPr>
                <a:r>
                  <a:rPr lang="ru-RU" sz="1800" dirty="0">
                    <a:effectLst/>
                    <a:latin typeface="Calibri" panose="020F0502020204030204" pitchFamily="34" charset="0"/>
                    <a:ea typeface="Times New Roman" panose="02020603050405020304" pitchFamily="18" charset="0"/>
                  </a:rPr>
                  <a:t>- </a:t>
                </a:r>
                <a14:m>
                  <m:oMath xmlns:m="http://schemas.openxmlformats.org/officeDocument/2006/math">
                    <m:r>
                      <m:rPr>
                        <m:lit/>
                      </m:rPr>
                      <a:rPr lang="ru-RU" sz="1800" i="1">
                        <a:effectLst/>
                        <a:latin typeface="Cambria Math" panose="02040503050406030204" pitchFamily="18" charset="0"/>
                        <a:ea typeface="Times New Roman" panose="02020603050405020304" pitchFamily="18" charset="0"/>
                        <a:cs typeface="Calibri" panose="020F0502020204030204" pitchFamily="34" charset="0"/>
                      </a:rPr>
                      <m:t>(</m:t>
                    </m:r>
                    <m:sSub>
                      <m:sSubPr>
                        <m:ctrlPr>
                          <a:rPr lang="ru-RU" sz="1800" i="1">
                            <a:effectLst/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Calibri" panose="020F0502020204030204" pitchFamily="34" charset="0"/>
                          </a:rPr>
                        </m:ctrlPr>
                      </m:sSubPr>
                      <m:e>
                        <m:r>
                          <a:rPr lang="ru-RU" sz="1800" i="1">
                            <a:effectLst/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Calibri" panose="020F0502020204030204" pitchFamily="34" charset="0"/>
                          </a:rPr>
                          <m:t>𝐹</m:t>
                        </m:r>
                      </m:e>
                      <m:sub>
                        <m:r>
                          <m:rPr>
                            <m:nor/>
                          </m:rPr>
                          <a:rPr lang="ru-RU" sz="1800">
                            <a:effectLst/>
                            <a:latin typeface="Calibri" panose="020F0502020204030204" pitchFamily="34" charset="0"/>
                            <a:ea typeface="Times New Roman" panose="02020603050405020304" pitchFamily="18" charset="0"/>
                          </a:rPr>
                          <m:t>thrust</m:t>
                        </m:r>
                      </m:sub>
                    </m:sSub>
                    <m:r>
                      <m:rPr>
                        <m:lit/>
                      </m:rPr>
                      <a:rPr lang="ru-RU" sz="1800" i="1">
                        <a:effectLst/>
                        <a:latin typeface="Cambria Math" panose="02040503050406030204" pitchFamily="18" charset="0"/>
                        <a:ea typeface="Times New Roman" panose="02020603050405020304" pitchFamily="18" charset="0"/>
                        <a:cs typeface="Calibri" panose="020F0502020204030204" pitchFamily="34" charset="0"/>
                      </a:rPr>
                      <m:t>)</m:t>
                    </m:r>
                  </m:oMath>
                </a14:m>
                <a:r>
                  <a:rPr lang="ru-RU" sz="1800" dirty="0">
                    <a:effectLst/>
                    <a:latin typeface="Calibri" panose="020F0502020204030204" pitchFamily="34" charset="0"/>
                    <a:ea typeface="Times New Roman" panose="02020603050405020304" pitchFamily="18" charset="0"/>
                  </a:rPr>
                  <a:t> — текущая тяга (Н) </a:t>
                </a:r>
                <a:endParaRPr lang="ru-RU" sz="1800" dirty="0">
                  <a:effectLst/>
                  <a:latin typeface="Times New Roman" panose="02020603050405020304" pitchFamily="18" charset="0"/>
                  <a:ea typeface="Times New Roman" panose="02020603050405020304" pitchFamily="18" charset="0"/>
                </a:endParaRPr>
              </a:p>
              <a:p>
                <a:pPr>
                  <a:spcAft>
                    <a:spcPts val="600"/>
                  </a:spcAft>
                </a:pPr>
                <a:r>
                  <a:rPr lang="ru-RU" sz="1800" dirty="0">
                    <a:effectLst/>
                    <a:latin typeface="Calibri" panose="020F0502020204030204" pitchFamily="34" charset="0"/>
                    <a:ea typeface="Times New Roman" panose="02020603050405020304" pitchFamily="18" charset="0"/>
                  </a:rPr>
                  <a:t>- </a:t>
                </a:r>
                <a14:m>
                  <m:oMath xmlns:m="http://schemas.openxmlformats.org/officeDocument/2006/math">
                    <m:r>
                      <m:rPr>
                        <m:lit/>
                      </m:rPr>
                      <a:rPr lang="ru-RU" sz="1800" i="1">
                        <a:effectLst/>
                        <a:latin typeface="Cambria Math" panose="02040503050406030204" pitchFamily="18" charset="0"/>
                        <a:ea typeface="Times New Roman" panose="02020603050405020304" pitchFamily="18" charset="0"/>
                        <a:cs typeface="Calibri" panose="020F0502020204030204" pitchFamily="34" charset="0"/>
                      </a:rPr>
                      <m:t>(</m:t>
                    </m:r>
                    <m:sSub>
                      <m:sSubPr>
                        <m:ctrlPr>
                          <a:rPr lang="ru-RU" sz="1800" i="1">
                            <a:effectLst/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Calibri" panose="020F0502020204030204" pitchFamily="34" charset="0"/>
                          </a:rPr>
                        </m:ctrlPr>
                      </m:sSubPr>
                      <m:e>
                        <m:r>
                          <a:rPr lang="ru-RU" sz="1800" i="1">
                            <a:effectLst/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Calibri" panose="020F0502020204030204" pitchFamily="34" charset="0"/>
                          </a:rPr>
                          <m:t>𝐹</m:t>
                        </m:r>
                      </m:e>
                      <m:sub>
                        <m:r>
                          <a:rPr lang="ru-RU" sz="1800" i="1">
                            <a:effectLst/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Calibri" panose="020F0502020204030204" pitchFamily="34" charset="0"/>
                          </a:rPr>
                          <m:t>𝑑</m:t>
                        </m:r>
                      </m:sub>
                    </m:sSub>
                    <m:r>
                      <m:rPr>
                        <m:lit/>
                      </m:rPr>
                      <a:rPr lang="ru-RU" sz="1800" i="1">
                        <a:effectLst/>
                        <a:latin typeface="Cambria Math" panose="02040503050406030204" pitchFamily="18" charset="0"/>
                        <a:ea typeface="Times New Roman" panose="02020603050405020304" pitchFamily="18" charset="0"/>
                        <a:cs typeface="Calibri" panose="020F0502020204030204" pitchFamily="34" charset="0"/>
                      </a:rPr>
                      <m:t>)</m:t>
                    </m:r>
                  </m:oMath>
                </a14:m>
                <a:r>
                  <a:rPr lang="ru-RU" sz="1800" dirty="0">
                    <a:effectLst/>
                    <a:latin typeface="Calibri" panose="020F0502020204030204" pitchFamily="34" charset="0"/>
                    <a:ea typeface="Times New Roman" panose="02020603050405020304" pitchFamily="18" charset="0"/>
                  </a:rPr>
                  <a:t> — сила сопротивления (Н) </a:t>
                </a:r>
                <a:endParaRPr lang="ru-RU" sz="1800" dirty="0">
                  <a:effectLst/>
                  <a:latin typeface="Times New Roman" panose="02020603050405020304" pitchFamily="18" charset="0"/>
                  <a:ea typeface="Times New Roman" panose="02020603050405020304" pitchFamily="18" charset="0"/>
                </a:endParaRPr>
              </a:p>
              <a:p>
                <a:pPr>
                  <a:spcAft>
                    <a:spcPts val="600"/>
                  </a:spcAft>
                </a:pPr>
                <a:r>
                  <a:rPr lang="ru-RU" sz="1800" dirty="0">
                    <a:effectLst/>
                    <a:latin typeface="Calibri" panose="020F0502020204030204" pitchFamily="34" charset="0"/>
                    <a:ea typeface="Times New Roman" panose="02020603050405020304" pitchFamily="18" charset="0"/>
                  </a:rPr>
                  <a:t>- </a:t>
                </a:r>
                <a14:m>
                  <m:oMath xmlns:m="http://schemas.openxmlformats.org/officeDocument/2006/math">
                    <m:r>
                      <m:rPr>
                        <m:lit/>
                      </m:rPr>
                      <a:rPr lang="ru-RU" sz="1800" i="1">
                        <a:effectLst/>
                        <a:latin typeface="Cambria Math" panose="02040503050406030204" pitchFamily="18" charset="0"/>
                        <a:ea typeface="Times New Roman" panose="02020603050405020304" pitchFamily="18" charset="0"/>
                        <a:cs typeface="Calibri" panose="020F0502020204030204" pitchFamily="34" charset="0"/>
                      </a:rPr>
                      <m:t>(</m:t>
                    </m:r>
                    <m:r>
                      <a:rPr lang="ru-RU" sz="1800" i="1">
                        <a:effectLst/>
                        <a:latin typeface="Cambria Math" panose="02040503050406030204" pitchFamily="18" charset="0"/>
                        <a:ea typeface="Times New Roman" panose="02020603050405020304" pitchFamily="18" charset="0"/>
                        <a:cs typeface="Calibri" panose="020F0502020204030204" pitchFamily="34" charset="0"/>
                      </a:rPr>
                      <m:t>𝑚</m:t>
                    </m:r>
                    <m:r>
                      <m:rPr>
                        <m:lit/>
                      </m:rPr>
                      <a:rPr lang="ru-RU" sz="1800" i="1">
                        <a:effectLst/>
                        <a:latin typeface="Cambria Math" panose="02040503050406030204" pitchFamily="18" charset="0"/>
                        <a:ea typeface="Times New Roman" panose="02020603050405020304" pitchFamily="18" charset="0"/>
                        <a:cs typeface="Calibri" panose="020F0502020204030204" pitchFamily="34" charset="0"/>
                      </a:rPr>
                      <m:t>)</m:t>
                    </m:r>
                  </m:oMath>
                </a14:m>
                <a:r>
                  <a:rPr lang="ru-RU" sz="1800" dirty="0">
                    <a:effectLst/>
                    <a:latin typeface="Calibri" panose="020F0502020204030204" pitchFamily="34" charset="0"/>
                    <a:ea typeface="Times New Roman" panose="02020603050405020304" pitchFamily="18" charset="0"/>
                  </a:rPr>
                  <a:t> — текущая масса ракеты (кг) </a:t>
                </a:r>
                <a:endParaRPr lang="ru-RU" sz="1800" dirty="0">
                  <a:effectLst/>
                  <a:latin typeface="Times New Roman" panose="02020603050405020304" pitchFamily="18" charset="0"/>
                  <a:ea typeface="Times New Roman" panose="02020603050405020304" pitchFamily="18" charset="0"/>
                </a:endParaRPr>
              </a:p>
              <a:p>
                <a:pPr>
                  <a:spcAft>
                    <a:spcPts val="600"/>
                  </a:spcAft>
                </a:pPr>
                <a:r>
                  <a:rPr lang="ru-RU" sz="1800" dirty="0">
                    <a:effectLst/>
                    <a:latin typeface="Calibri" panose="020F0502020204030204" pitchFamily="34" charset="0"/>
                    <a:ea typeface="Times New Roman" panose="02020603050405020304" pitchFamily="18" charset="0"/>
                  </a:rPr>
                  <a:t>- </a:t>
                </a:r>
                <a14:m>
                  <m:oMath xmlns:m="http://schemas.openxmlformats.org/officeDocument/2006/math">
                    <m:r>
                      <m:rPr>
                        <m:lit/>
                      </m:rPr>
                      <a:rPr lang="ru-RU" sz="1800" i="1">
                        <a:effectLst/>
                        <a:latin typeface="Cambria Math" panose="02040503050406030204" pitchFamily="18" charset="0"/>
                        <a:ea typeface="Times New Roman" panose="02020603050405020304" pitchFamily="18" charset="0"/>
                        <a:cs typeface="Calibri" panose="020F0502020204030204" pitchFamily="34" charset="0"/>
                      </a:rPr>
                      <m:t>(</m:t>
                    </m:r>
                    <m:r>
                      <a:rPr lang="ru-RU" sz="1800" i="1">
                        <a:effectLst/>
                        <a:latin typeface="Cambria Math" panose="02040503050406030204" pitchFamily="18" charset="0"/>
                        <a:ea typeface="Times New Roman" panose="02020603050405020304" pitchFamily="18" charset="0"/>
                        <a:cs typeface="Calibri" panose="020F0502020204030204" pitchFamily="34" charset="0"/>
                      </a:rPr>
                      <m:t>𝑔</m:t>
                    </m:r>
                    <m:r>
                      <m:rPr>
                        <m:lit/>
                      </m:rPr>
                      <a:rPr lang="ru-RU" sz="1800" i="1">
                        <a:effectLst/>
                        <a:latin typeface="Cambria Math" panose="02040503050406030204" pitchFamily="18" charset="0"/>
                        <a:ea typeface="Times New Roman" panose="02020603050405020304" pitchFamily="18" charset="0"/>
                        <a:cs typeface="Calibri" panose="020F0502020204030204" pitchFamily="34" charset="0"/>
                      </a:rPr>
                      <m:t>)</m:t>
                    </m:r>
                  </m:oMath>
                </a14:m>
                <a:r>
                  <a:rPr lang="ru-RU" sz="1800" dirty="0">
                    <a:effectLst/>
                    <a:latin typeface="Calibri" panose="020F0502020204030204" pitchFamily="34" charset="0"/>
                    <a:ea typeface="Times New Roman" panose="02020603050405020304" pitchFamily="18" charset="0"/>
                  </a:rPr>
                  <a:t> — местное уск. св. падения (м/с²) </a:t>
                </a:r>
                <a:endParaRPr lang="ru-RU" sz="1800" dirty="0">
                  <a:effectLst/>
                  <a:latin typeface="Times New Roman" panose="02020603050405020304" pitchFamily="18" charset="0"/>
                  <a:ea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A7010AF4-E67F-4CE0-A7C0-A9F5264FE51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91205" y="3985113"/>
                <a:ext cx="4264574" cy="2751972"/>
              </a:xfrm>
              <a:prstGeom prst="rect">
                <a:avLst/>
              </a:prstGeom>
              <a:blipFill>
                <a:blip r:embed="rId4"/>
                <a:stretch>
                  <a:fillRect l="-1140" t="-1104" b="-2428"/>
                </a:stretch>
              </a:blipFill>
              <a:ln>
                <a:solidFill>
                  <a:schemeClr val="tx1">
                    <a:lumMod val="50000"/>
                    <a:lumOff val="50000"/>
                  </a:schemeClr>
                </a:solidFill>
              </a:ln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DA30E787-B0D0-4A08-AB4A-E8858A97D469}"/>
                  </a:ext>
                </a:extLst>
              </p:cNvPr>
              <p:cNvSpPr txBox="1"/>
              <p:nvPr/>
            </p:nvSpPr>
            <p:spPr>
              <a:xfrm>
                <a:off x="5155323" y="4131029"/>
                <a:ext cx="5344510" cy="2139047"/>
              </a:xfrm>
              <a:prstGeom prst="rect">
                <a:avLst/>
              </a:prstGeom>
              <a:noFill/>
              <a:ln>
                <a:solidFill>
                  <a:schemeClr val="tx1">
                    <a:lumMod val="50000"/>
                    <a:lumOff val="50000"/>
                  </a:schemeClr>
                </a:solidFill>
              </a:ln>
            </p:spPr>
            <p:txBody>
              <a:bodyPr wrap="square">
                <a:spAutoFit/>
              </a:bodyPr>
              <a:lstStyle/>
              <a:p>
                <a:pPr>
                  <a:spcAft>
                    <a:spcPts val="600"/>
                  </a:spcAft>
                </a:pPr>
                <a:r>
                  <a:rPr lang="ru-RU" sz="1800" b="1" dirty="0">
                    <a:effectLst/>
                    <a:latin typeface="Calibri" panose="020F0502020204030204" pitchFamily="34" charset="0"/>
                    <a:ea typeface="Times New Roman" panose="02020603050405020304" pitchFamily="18" charset="0"/>
                  </a:rPr>
                  <a:t>Численное интегрирование методом Эйлера</a:t>
                </a:r>
                <a:endParaRPr lang="ru-RU" dirty="0">
                  <a:latin typeface="Calibri" panose="020F0502020204030204" pitchFamily="34" charset="0"/>
                  <a:ea typeface="Times New Roman" panose="02020603050405020304" pitchFamily="18" charset="0"/>
                </a:endParaRPr>
              </a:p>
              <a:p>
                <a:pPr>
                  <a:spcAft>
                    <a:spcPts val="600"/>
                  </a:spcAft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800" i="1">
                          <a:effectLst/>
                          <a:latin typeface="Cambria Math" panose="02040503050406030204" pitchFamily="18" charset="0"/>
                          <a:ea typeface="Times New Roman" panose="02020603050405020304" pitchFamily="18" charset="0"/>
                          <a:cs typeface="Calibri" panose="020F0502020204030204" pitchFamily="34" charset="0"/>
                        </a:rPr>
                        <m:t>𝑣</m:t>
                      </m:r>
                      <m:d>
                        <m:dPr>
                          <m:ctrlPr>
                            <a:rPr lang="ru-RU" sz="1800" i="1">
                              <a:effectLst/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Calibri" panose="020F0502020204030204" pitchFamily="34" charset="0"/>
                            </a:rPr>
                          </m:ctrlPr>
                        </m:dPr>
                        <m:e>
                          <m:r>
                            <a:rPr lang="en-US" sz="1800" i="1">
                              <a:effectLst/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Calibri" panose="020F0502020204030204" pitchFamily="34" charset="0"/>
                            </a:rPr>
                            <m:t>𝑡</m:t>
                          </m:r>
                          <m:r>
                            <a:rPr lang="en-US" sz="1800" i="1">
                              <a:effectLst/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Calibri" panose="020F0502020204030204" pitchFamily="34" charset="0"/>
                            </a:rPr>
                            <m:t>+</m:t>
                          </m:r>
                          <m:r>
                            <m:rPr>
                              <m:sty m:val="p"/>
                            </m:rPr>
                            <a:rPr lang="en-US" sz="1800">
                              <a:effectLst/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Calibri" panose="020F0502020204030204" pitchFamily="34" charset="0"/>
                            </a:rPr>
                            <m:t>Δ</m:t>
                          </m:r>
                          <m:r>
                            <a:rPr lang="en-US" sz="1800" i="1">
                              <a:effectLst/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Calibri" panose="020F0502020204030204" pitchFamily="34" charset="0"/>
                            </a:rPr>
                            <m:t>𝑡</m:t>
                          </m:r>
                        </m:e>
                      </m:d>
                      <m:r>
                        <a:rPr lang="en-US" sz="1800" i="1">
                          <a:effectLst/>
                          <a:latin typeface="Cambria Math" panose="02040503050406030204" pitchFamily="18" charset="0"/>
                          <a:ea typeface="Times New Roman" panose="02020603050405020304" pitchFamily="18" charset="0"/>
                          <a:cs typeface="Calibri" panose="020F0502020204030204" pitchFamily="34" charset="0"/>
                        </a:rPr>
                        <m:t>=</m:t>
                      </m:r>
                      <m:r>
                        <a:rPr lang="en-US" sz="1800" i="1">
                          <a:effectLst/>
                          <a:latin typeface="Cambria Math" panose="02040503050406030204" pitchFamily="18" charset="0"/>
                          <a:ea typeface="Times New Roman" panose="02020603050405020304" pitchFamily="18" charset="0"/>
                          <a:cs typeface="Calibri" panose="020F0502020204030204" pitchFamily="34" charset="0"/>
                        </a:rPr>
                        <m:t>𝑣</m:t>
                      </m:r>
                      <m:d>
                        <m:dPr>
                          <m:ctrlPr>
                            <a:rPr lang="ru-RU" sz="1800" i="1">
                              <a:effectLst/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Calibri" panose="020F0502020204030204" pitchFamily="34" charset="0"/>
                            </a:rPr>
                          </m:ctrlPr>
                        </m:dPr>
                        <m:e>
                          <m:r>
                            <a:rPr lang="en-US" sz="1800" i="1">
                              <a:effectLst/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Calibri" panose="020F0502020204030204" pitchFamily="34" charset="0"/>
                            </a:rPr>
                            <m:t>𝑡</m:t>
                          </m:r>
                        </m:e>
                      </m:d>
                      <m:r>
                        <a:rPr lang="en-US" sz="1800" i="1">
                          <a:effectLst/>
                          <a:latin typeface="Cambria Math" panose="02040503050406030204" pitchFamily="18" charset="0"/>
                          <a:ea typeface="Times New Roman" panose="02020603050405020304" pitchFamily="18" charset="0"/>
                          <a:cs typeface="Calibri" panose="020F0502020204030204" pitchFamily="34" charset="0"/>
                        </a:rPr>
                        <m:t>+</m:t>
                      </m:r>
                      <m:r>
                        <a:rPr lang="en-US" sz="1800" i="1">
                          <a:effectLst/>
                          <a:latin typeface="Cambria Math" panose="02040503050406030204" pitchFamily="18" charset="0"/>
                          <a:ea typeface="Times New Roman" panose="02020603050405020304" pitchFamily="18" charset="0"/>
                          <a:cs typeface="Calibri" panose="020F0502020204030204" pitchFamily="34" charset="0"/>
                        </a:rPr>
                        <m:t>𝑎</m:t>
                      </m:r>
                      <m:d>
                        <m:dPr>
                          <m:ctrlPr>
                            <a:rPr lang="ru-RU" sz="1800" i="1">
                              <a:effectLst/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Calibri" panose="020F0502020204030204" pitchFamily="34" charset="0"/>
                            </a:rPr>
                          </m:ctrlPr>
                        </m:dPr>
                        <m:e>
                          <m:r>
                            <a:rPr lang="en-US" sz="1800" i="1">
                              <a:effectLst/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Calibri" panose="020F0502020204030204" pitchFamily="34" charset="0"/>
                            </a:rPr>
                            <m:t>𝑡</m:t>
                          </m:r>
                        </m:e>
                      </m:d>
                      <m:r>
                        <a:rPr lang="en-US" sz="1800">
                          <a:effectLst/>
                          <a:latin typeface="Cambria Math" panose="02040503050406030204" pitchFamily="18" charset="0"/>
                          <a:ea typeface="Times New Roman" panose="02020603050405020304" pitchFamily="18" charset="0"/>
                          <a:cs typeface="Calibri" panose="020F0502020204030204" pitchFamily="34" charset="0"/>
                        </a:rPr>
                        <m:t>⋅</m:t>
                      </m:r>
                      <m:r>
                        <m:rPr>
                          <m:sty m:val="p"/>
                        </m:rPr>
                        <a:rPr lang="en-US" sz="1800">
                          <a:effectLst/>
                          <a:latin typeface="Cambria Math" panose="02040503050406030204" pitchFamily="18" charset="0"/>
                          <a:ea typeface="Times New Roman" panose="02020603050405020304" pitchFamily="18" charset="0"/>
                          <a:cs typeface="Calibri" panose="020F0502020204030204" pitchFamily="34" charset="0"/>
                        </a:rPr>
                        <m:t>Δ</m:t>
                      </m:r>
                      <m:r>
                        <a:rPr lang="en-US" sz="1800" i="1">
                          <a:effectLst/>
                          <a:latin typeface="Cambria Math" panose="02040503050406030204" pitchFamily="18" charset="0"/>
                          <a:ea typeface="Times New Roman" panose="02020603050405020304" pitchFamily="18" charset="0"/>
                          <a:cs typeface="Calibri" panose="020F0502020204030204" pitchFamily="34" charset="0"/>
                        </a:rPr>
                        <m:t>𝑡</m:t>
                      </m:r>
                    </m:oMath>
                  </m:oMathPara>
                </a14:m>
                <a:endParaRPr lang="ru-RU" sz="1800" dirty="0">
                  <a:effectLst/>
                  <a:latin typeface="Times New Roman" panose="02020603050405020304" pitchFamily="18" charset="0"/>
                  <a:ea typeface="Times New Roman" panose="02020603050405020304" pitchFamily="18" charset="0"/>
                </a:endParaRPr>
              </a:p>
              <a:p>
                <a:pPr>
                  <a:spcAft>
                    <a:spcPts val="600"/>
                  </a:spcAft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800" i="1">
                          <a:effectLst/>
                          <a:latin typeface="Cambria Math" panose="02040503050406030204" pitchFamily="18" charset="0"/>
                          <a:ea typeface="Times New Roman" panose="02020603050405020304" pitchFamily="18" charset="0"/>
                          <a:cs typeface="Calibri" panose="020F0502020204030204" pitchFamily="34" charset="0"/>
                        </a:rPr>
                        <m:t>h</m:t>
                      </m:r>
                      <m:d>
                        <m:dPr>
                          <m:ctrlPr>
                            <a:rPr lang="ru-RU" sz="1800" i="1">
                              <a:effectLst/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Calibri" panose="020F0502020204030204" pitchFamily="34" charset="0"/>
                            </a:rPr>
                          </m:ctrlPr>
                        </m:dPr>
                        <m:e>
                          <m:r>
                            <a:rPr lang="en-US" sz="1800" i="1">
                              <a:effectLst/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Calibri" panose="020F0502020204030204" pitchFamily="34" charset="0"/>
                            </a:rPr>
                            <m:t>𝑡</m:t>
                          </m:r>
                          <m:r>
                            <a:rPr lang="en-US" sz="1800" i="1">
                              <a:effectLst/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Calibri" panose="020F0502020204030204" pitchFamily="34" charset="0"/>
                            </a:rPr>
                            <m:t>+</m:t>
                          </m:r>
                          <m:r>
                            <m:rPr>
                              <m:sty m:val="p"/>
                            </m:rPr>
                            <a:rPr lang="en-US" sz="1800">
                              <a:effectLst/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Calibri" panose="020F0502020204030204" pitchFamily="34" charset="0"/>
                            </a:rPr>
                            <m:t>Δ</m:t>
                          </m:r>
                          <m:r>
                            <a:rPr lang="en-US" sz="1800" i="1">
                              <a:effectLst/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Calibri" panose="020F0502020204030204" pitchFamily="34" charset="0"/>
                            </a:rPr>
                            <m:t>𝑡</m:t>
                          </m:r>
                        </m:e>
                      </m:d>
                      <m:r>
                        <a:rPr lang="en-US" sz="1800" i="1">
                          <a:effectLst/>
                          <a:latin typeface="Cambria Math" panose="02040503050406030204" pitchFamily="18" charset="0"/>
                          <a:ea typeface="Times New Roman" panose="02020603050405020304" pitchFamily="18" charset="0"/>
                          <a:cs typeface="Calibri" panose="020F0502020204030204" pitchFamily="34" charset="0"/>
                        </a:rPr>
                        <m:t>=</m:t>
                      </m:r>
                      <m:r>
                        <a:rPr lang="en-US" sz="1800" i="1">
                          <a:effectLst/>
                          <a:latin typeface="Cambria Math" panose="02040503050406030204" pitchFamily="18" charset="0"/>
                          <a:ea typeface="Times New Roman" panose="02020603050405020304" pitchFamily="18" charset="0"/>
                          <a:cs typeface="Calibri" panose="020F0502020204030204" pitchFamily="34" charset="0"/>
                        </a:rPr>
                        <m:t>h</m:t>
                      </m:r>
                      <m:d>
                        <m:dPr>
                          <m:ctrlPr>
                            <a:rPr lang="ru-RU" sz="1800" i="1">
                              <a:effectLst/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Calibri" panose="020F0502020204030204" pitchFamily="34" charset="0"/>
                            </a:rPr>
                          </m:ctrlPr>
                        </m:dPr>
                        <m:e>
                          <m:r>
                            <a:rPr lang="en-US" sz="1800" i="1">
                              <a:effectLst/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Calibri" panose="020F0502020204030204" pitchFamily="34" charset="0"/>
                            </a:rPr>
                            <m:t>𝑡</m:t>
                          </m:r>
                        </m:e>
                      </m:d>
                      <m:r>
                        <a:rPr lang="en-US" sz="1800" i="1">
                          <a:effectLst/>
                          <a:latin typeface="Cambria Math" panose="02040503050406030204" pitchFamily="18" charset="0"/>
                          <a:ea typeface="Times New Roman" panose="02020603050405020304" pitchFamily="18" charset="0"/>
                          <a:cs typeface="Calibri" panose="020F0502020204030204" pitchFamily="34" charset="0"/>
                        </a:rPr>
                        <m:t>+</m:t>
                      </m:r>
                      <m:r>
                        <a:rPr lang="en-US" sz="1800" i="1">
                          <a:effectLst/>
                          <a:latin typeface="Cambria Math" panose="02040503050406030204" pitchFamily="18" charset="0"/>
                          <a:ea typeface="Times New Roman" panose="02020603050405020304" pitchFamily="18" charset="0"/>
                          <a:cs typeface="Calibri" panose="020F0502020204030204" pitchFamily="34" charset="0"/>
                        </a:rPr>
                        <m:t>𝑣</m:t>
                      </m:r>
                      <m:d>
                        <m:dPr>
                          <m:ctrlPr>
                            <a:rPr lang="ru-RU" sz="1800" i="1">
                              <a:effectLst/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Calibri" panose="020F0502020204030204" pitchFamily="34" charset="0"/>
                            </a:rPr>
                          </m:ctrlPr>
                        </m:dPr>
                        <m:e>
                          <m:r>
                            <a:rPr lang="en-US" sz="1800" i="1">
                              <a:effectLst/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Calibri" panose="020F0502020204030204" pitchFamily="34" charset="0"/>
                            </a:rPr>
                            <m:t>𝑡</m:t>
                          </m:r>
                        </m:e>
                      </m:d>
                      <m:r>
                        <a:rPr lang="en-US" sz="1800">
                          <a:effectLst/>
                          <a:latin typeface="Cambria Math" panose="02040503050406030204" pitchFamily="18" charset="0"/>
                          <a:ea typeface="Times New Roman" panose="02020603050405020304" pitchFamily="18" charset="0"/>
                          <a:cs typeface="Calibri" panose="020F0502020204030204" pitchFamily="34" charset="0"/>
                        </a:rPr>
                        <m:t>⋅</m:t>
                      </m:r>
                      <m:r>
                        <m:rPr>
                          <m:sty m:val="p"/>
                        </m:rPr>
                        <a:rPr lang="en-US" sz="1800">
                          <a:effectLst/>
                          <a:latin typeface="Cambria Math" panose="02040503050406030204" pitchFamily="18" charset="0"/>
                          <a:ea typeface="Times New Roman" panose="02020603050405020304" pitchFamily="18" charset="0"/>
                          <a:cs typeface="Calibri" panose="020F0502020204030204" pitchFamily="34" charset="0"/>
                        </a:rPr>
                        <m:t>Δ</m:t>
                      </m:r>
                      <m:r>
                        <a:rPr lang="en-US" sz="1800" i="1">
                          <a:effectLst/>
                          <a:latin typeface="Cambria Math" panose="02040503050406030204" pitchFamily="18" charset="0"/>
                          <a:ea typeface="Times New Roman" panose="02020603050405020304" pitchFamily="18" charset="0"/>
                          <a:cs typeface="Calibri" panose="020F0502020204030204" pitchFamily="34" charset="0"/>
                        </a:rPr>
                        <m:t>𝑡</m:t>
                      </m:r>
                    </m:oMath>
                  </m:oMathPara>
                </a14:m>
                <a:endParaRPr lang="ru-RU" sz="1800" dirty="0">
                  <a:effectLst/>
                  <a:latin typeface="Times New Roman" panose="02020603050405020304" pitchFamily="18" charset="0"/>
                  <a:ea typeface="Times New Roman" panose="02020603050405020304" pitchFamily="18" charset="0"/>
                </a:endParaRPr>
              </a:p>
              <a:p>
                <a:pPr>
                  <a:spcAft>
                    <a:spcPts val="600"/>
                  </a:spcAft>
                </a:pPr>
                <a:r>
                  <a:rPr lang="ru-RU" sz="1800" dirty="0">
                    <a:effectLst/>
                    <a:latin typeface="Calibri" panose="020F0502020204030204" pitchFamily="34" charset="0"/>
                    <a:ea typeface="Times New Roman" panose="02020603050405020304" pitchFamily="18" charset="0"/>
                  </a:rPr>
                  <a:t>- </a:t>
                </a:r>
                <a14:m>
                  <m:oMath xmlns:m="http://schemas.openxmlformats.org/officeDocument/2006/math">
                    <m:r>
                      <m:rPr>
                        <m:lit/>
                      </m:rPr>
                      <a:rPr lang="ru-RU" sz="1800" i="1">
                        <a:effectLst/>
                        <a:latin typeface="Cambria Math" panose="02040503050406030204" pitchFamily="18" charset="0"/>
                        <a:ea typeface="Times New Roman" panose="02020603050405020304" pitchFamily="18" charset="0"/>
                        <a:cs typeface="Calibri" panose="020F0502020204030204" pitchFamily="34" charset="0"/>
                      </a:rPr>
                      <m:t>(</m:t>
                    </m:r>
                    <m:r>
                      <a:rPr lang="ru-RU" sz="1800" i="1">
                        <a:effectLst/>
                        <a:latin typeface="Cambria Math" panose="02040503050406030204" pitchFamily="18" charset="0"/>
                        <a:ea typeface="Times New Roman" panose="02020603050405020304" pitchFamily="18" charset="0"/>
                        <a:cs typeface="Calibri" panose="020F0502020204030204" pitchFamily="34" charset="0"/>
                      </a:rPr>
                      <m:t>𝑣</m:t>
                    </m:r>
                    <m:r>
                      <m:rPr>
                        <m:lit/>
                      </m:rPr>
                      <a:rPr lang="ru-RU" sz="1800" i="1">
                        <a:effectLst/>
                        <a:latin typeface="Cambria Math" panose="02040503050406030204" pitchFamily="18" charset="0"/>
                        <a:ea typeface="Times New Roman" panose="02020603050405020304" pitchFamily="18" charset="0"/>
                        <a:cs typeface="Calibri" panose="020F0502020204030204" pitchFamily="34" charset="0"/>
                      </a:rPr>
                      <m:t>)</m:t>
                    </m:r>
                  </m:oMath>
                </a14:m>
                <a:r>
                  <a:rPr lang="ru-RU" sz="1800" dirty="0">
                    <a:effectLst/>
                    <a:latin typeface="Calibri" panose="020F0502020204030204" pitchFamily="34" charset="0"/>
                    <a:ea typeface="Times New Roman" panose="02020603050405020304" pitchFamily="18" charset="0"/>
                  </a:rPr>
                  <a:t> — скорость (м/с) </a:t>
                </a:r>
                <a:endParaRPr lang="ru-RU" sz="1800" dirty="0">
                  <a:effectLst/>
                  <a:latin typeface="Times New Roman" panose="02020603050405020304" pitchFamily="18" charset="0"/>
                  <a:ea typeface="Times New Roman" panose="02020603050405020304" pitchFamily="18" charset="0"/>
                </a:endParaRPr>
              </a:p>
              <a:p>
                <a:pPr>
                  <a:spcAft>
                    <a:spcPts val="600"/>
                  </a:spcAft>
                </a:pPr>
                <a:r>
                  <a:rPr lang="ru-RU" sz="1800" dirty="0">
                    <a:effectLst/>
                    <a:latin typeface="Calibri" panose="020F0502020204030204" pitchFamily="34" charset="0"/>
                    <a:ea typeface="Times New Roman" panose="02020603050405020304" pitchFamily="18" charset="0"/>
                  </a:rPr>
                  <a:t>- </a:t>
                </a:r>
                <a14:m>
                  <m:oMath xmlns:m="http://schemas.openxmlformats.org/officeDocument/2006/math">
                    <m:r>
                      <m:rPr>
                        <m:lit/>
                      </m:rPr>
                      <a:rPr lang="ru-RU" sz="1800" i="1">
                        <a:effectLst/>
                        <a:latin typeface="Cambria Math" panose="02040503050406030204" pitchFamily="18" charset="0"/>
                        <a:ea typeface="Times New Roman" panose="02020603050405020304" pitchFamily="18" charset="0"/>
                        <a:cs typeface="Calibri" panose="020F0502020204030204" pitchFamily="34" charset="0"/>
                      </a:rPr>
                      <m:t>(</m:t>
                    </m:r>
                    <m:r>
                      <a:rPr lang="ru-RU" sz="1800" i="1">
                        <a:effectLst/>
                        <a:latin typeface="Cambria Math" panose="02040503050406030204" pitchFamily="18" charset="0"/>
                        <a:ea typeface="Times New Roman" panose="02020603050405020304" pitchFamily="18" charset="0"/>
                        <a:cs typeface="Calibri" panose="020F0502020204030204" pitchFamily="34" charset="0"/>
                      </a:rPr>
                      <m:t>h</m:t>
                    </m:r>
                    <m:r>
                      <m:rPr>
                        <m:lit/>
                      </m:rPr>
                      <a:rPr lang="ru-RU" sz="1800" i="1">
                        <a:effectLst/>
                        <a:latin typeface="Cambria Math" panose="02040503050406030204" pitchFamily="18" charset="0"/>
                        <a:ea typeface="Times New Roman" panose="02020603050405020304" pitchFamily="18" charset="0"/>
                        <a:cs typeface="Calibri" panose="020F0502020204030204" pitchFamily="34" charset="0"/>
                      </a:rPr>
                      <m:t>)</m:t>
                    </m:r>
                  </m:oMath>
                </a14:m>
                <a:r>
                  <a:rPr lang="ru-RU" sz="1800" dirty="0">
                    <a:effectLst/>
                    <a:latin typeface="Calibri" panose="020F0502020204030204" pitchFamily="34" charset="0"/>
                    <a:ea typeface="Times New Roman" panose="02020603050405020304" pitchFamily="18" charset="0"/>
                  </a:rPr>
                  <a:t> — высота (м) </a:t>
                </a:r>
                <a:endParaRPr lang="ru-RU" sz="1800" dirty="0">
                  <a:effectLst/>
                  <a:latin typeface="Times New Roman" panose="02020603050405020304" pitchFamily="18" charset="0"/>
                  <a:ea typeface="Times New Roman" panose="02020603050405020304" pitchFamily="18" charset="0"/>
                </a:endParaRPr>
              </a:p>
              <a:p>
                <a:pPr>
                  <a:spcAft>
                    <a:spcPts val="600"/>
                  </a:spcAft>
                </a:pPr>
                <a:r>
                  <a:rPr lang="ru-RU" sz="1800" dirty="0">
                    <a:effectLst/>
                    <a:latin typeface="Calibri" panose="020F0502020204030204" pitchFamily="34" charset="0"/>
                    <a:ea typeface="Times New Roman" panose="02020603050405020304" pitchFamily="18" charset="0"/>
                  </a:rPr>
                  <a:t>- </a:t>
                </a:r>
                <a14:m>
                  <m:oMath xmlns:m="http://schemas.openxmlformats.org/officeDocument/2006/math">
                    <m:r>
                      <m:rPr>
                        <m:lit/>
                      </m:rPr>
                      <a:rPr lang="ru-RU" sz="1800" i="1">
                        <a:effectLst/>
                        <a:latin typeface="Cambria Math" panose="02040503050406030204" pitchFamily="18" charset="0"/>
                        <a:ea typeface="Times New Roman" panose="02020603050405020304" pitchFamily="18" charset="0"/>
                        <a:cs typeface="Calibri" panose="020F0502020204030204" pitchFamily="34" charset="0"/>
                      </a:rPr>
                      <m:t>(</m:t>
                    </m:r>
                    <m:r>
                      <m:rPr>
                        <m:sty m:val="p"/>
                      </m:rPr>
                      <a:rPr lang="ru-RU" sz="1800">
                        <a:effectLst/>
                        <a:latin typeface="Cambria Math" panose="02040503050406030204" pitchFamily="18" charset="0"/>
                        <a:ea typeface="Times New Roman" panose="02020603050405020304" pitchFamily="18" charset="0"/>
                        <a:cs typeface="Calibri" panose="020F0502020204030204" pitchFamily="34" charset="0"/>
                      </a:rPr>
                      <m:t>Δ</m:t>
                    </m:r>
                    <m:r>
                      <a:rPr lang="ru-RU" sz="1800" i="1">
                        <a:effectLst/>
                        <a:latin typeface="Cambria Math" panose="02040503050406030204" pitchFamily="18" charset="0"/>
                        <a:ea typeface="Times New Roman" panose="02020603050405020304" pitchFamily="18" charset="0"/>
                        <a:cs typeface="Calibri" panose="020F0502020204030204" pitchFamily="34" charset="0"/>
                      </a:rPr>
                      <m:t>𝑡</m:t>
                    </m:r>
                    <m:r>
                      <m:rPr>
                        <m:lit/>
                      </m:rPr>
                      <a:rPr lang="ru-RU" sz="1800" i="1">
                        <a:effectLst/>
                        <a:latin typeface="Cambria Math" panose="02040503050406030204" pitchFamily="18" charset="0"/>
                        <a:ea typeface="Times New Roman" panose="02020603050405020304" pitchFamily="18" charset="0"/>
                        <a:cs typeface="Calibri" panose="020F0502020204030204" pitchFamily="34" charset="0"/>
                      </a:rPr>
                      <m:t>)</m:t>
                    </m:r>
                  </m:oMath>
                </a14:m>
                <a:r>
                  <a:rPr lang="ru-RU" sz="1800" dirty="0">
                    <a:effectLst/>
                    <a:latin typeface="Calibri" panose="020F0502020204030204" pitchFamily="34" charset="0"/>
                    <a:ea typeface="Times New Roman" panose="02020603050405020304" pitchFamily="18" charset="0"/>
                  </a:rPr>
                  <a:t> — шаг по времени (с) </a:t>
                </a:r>
                <a:endParaRPr lang="ru-RU" sz="1800" dirty="0">
                  <a:effectLst/>
                  <a:latin typeface="Times New Roman" panose="02020603050405020304" pitchFamily="18" charset="0"/>
                  <a:ea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DA30E787-B0D0-4A08-AB4A-E8858A97D46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155323" y="4131029"/>
                <a:ext cx="5344510" cy="2139047"/>
              </a:xfrm>
              <a:prstGeom prst="rect">
                <a:avLst/>
              </a:prstGeom>
              <a:blipFill>
                <a:blip r:embed="rId5"/>
                <a:stretch>
                  <a:fillRect l="-911" t="-1416" b="-3399"/>
                </a:stretch>
              </a:blipFill>
              <a:ln>
                <a:solidFill>
                  <a:schemeClr val="tx1">
                    <a:lumMod val="50000"/>
                    <a:lumOff val="50000"/>
                  </a:schemeClr>
                </a:solidFill>
              </a:ln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6254595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2698C59E-AF4A-46C9-9A2C-DCEFB5EC1526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3" name="Подзаголовок 2">
            <a:extLst>
              <a:ext uri="{FF2B5EF4-FFF2-40B4-BE49-F238E27FC236}">
                <a16:creationId xmlns:a16="http://schemas.microsoft.com/office/drawing/2014/main" id="{4FED3227-8642-4316-B38C-8A766B4FFCD5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ru-RU"/>
          </a:p>
        </p:txBody>
      </p:sp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65621D93-87EC-4BD1-8714-D768761C1C5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70479" y="-1"/>
            <a:ext cx="10150854" cy="75612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173975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F3E248F5-0720-4812-BAEE-0E3CD2CFF91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ru-RU" dirty="0"/>
          </a:p>
        </p:txBody>
      </p:sp>
      <p:pic>
        <p:nvPicPr>
          <p:cNvPr id="5" name="Объект 4">
            <a:extLst>
              <a:ext uri="{FF2B5EF4-FFF2-40B4-BE49-F238E27FC236}">
                <a16:creationId xmlns:a16="http://schemas.microsoft.com/office/drawing/2014/main" id="{9ED84143-B6A5-47B2-B4D3-EA03FD284BBD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9759" y="-3191"/>
            <a:ext cx="10152293" cy="7564454"/>
          </a:xfrm>
        </p:spPr>
      </p:pic>
    </p:spTree>
    <p:extLst>
      <p:ext uri="{BB962C8B-B14F-4D97-AF65-F5344CB8AC3E}">
        <p14:creationId xmlns:p14="http://schemas.microsoft.com/office/powerpoint/2010/main" val="403013093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7733F47C-8F94-477A-8112-BF44A8126CD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ru-RU"/>
          </a:p>
        </p:txBody>
      </p:sp>
      <p:pic>
        <p:nvPicPr>
          <p:cNvPr id="5" name="Объект 4">
            <a:extLst>
              <a:ext uri="{FF2B5EF4-FFF2-40B4-BE49-F238E27FC236}">
                <a16:creationId xmlns:a16="http://schemas.microsoft.com/office/drawing/2014/main" id="{9D023BE1-5950-4779-A0B1-115CA6EA2317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89187" y="-5134"/>
            <a:ext cx="10151084" cy="7566397"/>
          </a:xfrm>
        </p:spPr>
      </p:pic>
    </p:spTree>
    <p:extLst>
      <p:ext uri="{BB962C8B-B14F-4D97-AF65-F5344CB8AC3E}">
        <p14:creationId xmlns:p14="http://schemas.microsoft.com/office/powerpoint/2010/main" val="219404857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F761DFA4-E3CE-4857-B458-4C51109703B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ru-RU"/>
          </a:p>
        </p:txBody>
      </p:sp>
      <p:pic>
        <p:nvPicPr>
          <p:cNvPr id="5" name="Объект 4">
            <a:extLst>
              <a:ext uri="{FF2B5EF4-FFF2-40B4-BE49-F238E27FC236}">
                <a16:creationId xmlns:a16="http://schemas.microsoft.com/office/drawing/2014/main" id="{57C52A1D-40E0-4E42-B086-9A42E1237975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71901" y="0"/>
            <a:ext cx="10148009" cy="7561263"/>
          </a:xfrm>
        </p:spPr>
      </p:pic>
    </p:spTree>
    <p:extLst>
      <p:ext uri="{BB962C8B-B14F-4D97-AF65-F5344CB8AC3E}">
        <p14:creationId xmlns:p14="http://schemas.microsoft.com/office/powerpoint/2010/main" val="20530804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68A08F64-2BCA-4911-98DC-1E514CFCC39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ru-RU"/>
          </a:p>
        </p:txBody>
      </p:sp>
      <p:pic>
        <p:nvPicPr>
          <p:cNvPr id="5" name="Объект 4">
            <a:extLst>
              <a:ext uri="{FF2B5EF4-FFF2-40B4-BE49-F238E27FC236}">
                <a16:creationId xmlns:a16="http://schemas.microsoft.com/office/drawing/2014/main" id="{8E9FD234-2C27-4333-8E13-0B13885B88A9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4640" b="14640"/>
          <a:stretch/>
        </p:blipFill>
        <p:spPr>
          <a:xfrm>
            <a:off x="0" y="0"/>
            <a:ext cx="10691812" cy="7561263"/>
          </a:xfrm>
        </p:spPr>
      </p:pic>
    </p:spTree>
    <p:extLst>
      <p:ext uri="{BB962C8B-B14F-4D97-AF65-F5344CB8AC3E}">
        <p14:creationId xmlns:p14="http://schemas.microsoft.com/office/powerpoint/2010/main" val="2659283031"/>
      </p:ext>
    </p:extLst>
  </p:cSld>
  <p:clrMapOvr>
    <a:masterClrMapping/>
  </p:clrMapOvr>
</p:sld>
</file>

<file path=ppt/theme/theme1.xml><?xml version="1.0" encoding="utf-8"?>
<a:theme xmlns:a="http://schemas.openxmlformats.org/drawingml/2006/main" name="Тема Office">
  <a:themeElements>
    <a:clrScheme name="Тема 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Тема 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Тема 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94</TotalTime>
  <Words>531</Words>
  <Application>Microsoft Office PowerPoint</Application>
  <PresentationFormat>Произвольный</PresentationFormat>
  <Paragraphs>67</Paragraphs>
  <Slides>8</Slides>
  <Notes>0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6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8</vt:i4>
      </vt:variant>
    </vt:vector>
  </HeadingPairs>
  <TitlesOfParts>
    <vt:vector size="15" baseType="lpstr">
      <vt:lpstr>Arial</vt:lpstr>
      <vt:lpstr>Calibri</vt:lpstr>
      <vt:lpstr>Calibri Light</vt:lpstr>
      <vt:lpstr>Cambria Math</vt:lpstr>
      <vt:lpstr>Consolas</vt:lpstr>
      <vt:lpstr>Times New Roman</vt:lpstr>
      <vt:lpstr>Тема Office</vt:lpstr>
      <vt:lpstr>Фиксированные значения и условия: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Презентация PowerPoint</dc:title>
  <dc:creator>Faster Xaos</dc:creator>
  <cp:lastModifiedBy>Faster Xaos</cp:lastModifiedBy>
  <cp:revision>10</cp:revision>
  <dcterms:created xsi:type="dcterms:W3CDTF">2026-03-26T14:46:02Z</dcterms:created>
  <dcterms:modified xsi:type="dcterms:W3CDTF">2026-03-30T16:26:40Z</dcterms:modified>
</cp:coreProperties>
</file>