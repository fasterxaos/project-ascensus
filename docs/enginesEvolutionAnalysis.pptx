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2" r:id="rId3"/>
    <p:sldId id="263" r:id="rId4"/>
    <p:sldId id="256" r:id="rId5"/>
    <p:sldId id="261" r:id="rId6"/>
  </p:sldIdLst>
  <p:sldSz cx="10691813" cy="7561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457"/>
            <a:ext cx="9088041" cy="2632440"/>
          </a:xfrm>
        </p:spPr>
        <p:txBody>
          <a:bodyPr anchor="b"/>
          <a:lstStyle>
            <a:lvl1pPr algn="ctr">
              <a:defRPr sz="6615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1414"/>
            <a:ext cx="8018860" cy="1825554"/>
          </a:xfrm>
        </p:spPr>
        <p:txBody>
          <a:bodyPr/>
          <a:lstStyle>
            <a:lvl1pPr marL="0" indent="0" algn="ctr">
              <a:buNone/>
              <a:defRPr sz="2646"/>
            </a:lvl1pPr>
            <a:lvl2pPr marL="504063" indent="0" algn="ctr">
              <a:buNone/>
              <a:defRPr sz="2205"/>
            </a:lvl2pPr>
            <a:lvl3pPr marL="1008126" indent="0" algn="ctr">
              <a:buNone/>
              <a:defRPr sz="1985"/>
            </a:lvl3pPr>
            <a:lvl4pPr marL="1512189" indent="0" algn="ctr">
              <a:buNone/>
              <a:defRPr sz="1764"/>
            </a:lvl4pPr>
            <a:lvl5pPr marL="2016252" indent="0" algn="ctr">
              <a:buNone/>
              <a:defRPr sz="1764"/>
            </a:lvl5pPr>
            <a:lvl6pPr marL="2520315" indent="0" algn="ctr">
              <a:buNone/>
              <a:defRPr sz="1764"/>
            </a:lvl6pPr>
            <a:lvl7pPr marL="3024378" indent="0" algn="ctr">
              <a:buNone/>
              <a:defRPr sz="1764"/>
            </a:lvl7pPr>
            <a:lvl8pPr marL="3528441" indent="0" algn="ctr">
              <a:buNone/>
              <a:defRPr sz="1764"/>
            </a:lvl8pPr>
            <a:lvl9pPr marL="4032504" indent="0" algn="ctr">
              <a:buNone/>
              <a:defRPr sz="1764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2F206-934A-4AEB-8CDD-488D750A95A8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67D6-1FB7-4AD0-B74D-9D191D0916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9651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2F206-934A-4AEB-8CDD-488D750A95A8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67D6-1FB7-4AD0-B74D-9D191D0916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9747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5067"/>
            <a:ext cx="9221689" cy="3145275"/>
          </a:xfrm>
        </p:spPr>
        <p:txBody>
          <a:bodyPr anchor="b"/>
          <a:lstStyle>
            <a:lvl1pPr>
              <a:defRPr sz="6615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60097"/>
            <a:ext cx="9221689" cy="1654026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4063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8126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3pPr>
            <a:lvl4pPr marL="151218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625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203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437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844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2504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2F206-934A-4AEB-8CDD-488D750A95A8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67D6-1FB7-4AD0-B74D-9D191D0916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8887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836"/>
            <a:ext cx="4544021" cy="47975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836"/>
            <a:ext cx="4544021" cy="47975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2F206-934A-4AEB-8CDD-488D750A95A8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67D6-1FB7-4AD0-B74D-9D191D0916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8711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569"/>
            <a:ext cx="9221689" cy="146149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560"/>
            <a:ext cx="4523137" cy="908401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4063" indent="0">
              <a:buNone/>
              <a:defRPr sz="2205" b="1"/>
            </a:lvl2pPr>
            <a:lvl3pPr marL="1008126" indent="0">
              <a:buNone/>
              <a:defRPr sz="1985" b="1"/>
            </a:lvl3pPr>
            <a:lvl4pPr marL="1512189" indent="0">
              <a:buNone/>
              <a:defRPr sz="1764" b="1"/>
            </a:lvl4pPr>
            <a:lvl5pPr marL="2016252" indent="0">
              <a:buNone/>
              <a:defRPr sz="1764" b="1"/>
            </a:lvl5pPr>
            <a:lvl6pPr marL="2520315" indent="0">
              <a:buNone/>
              <a:defRPr sz="1764" b="1"/>
            </a:lvl6pPr>
            <a:lvl7pPr marL="3024378" indent="0">
              <a:buNone/>
              <a:defRPr sz="1764" b="1"/>
            </a:lvl7pPr>
            <a:lvl8pPr marL="3528441" indent="0">
              <a:buNone/>
              <a:defRPr sz="1764" b="1"/>
            </a:lvl8pPr>
            <a:lvl9pPr marL="4032504" indent="0">
              <a:buNone/>
              <a:defRPr sz="1764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961"/>
            <a:ext cx="4523137" cy="40624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560"/>
            <a:ext cx="4545413" cy="908401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4063" indent="0">
              <a:buNone/>
              <a:defRPr sz="2205" b="1"/>
            </a:lvl2pPr>
            <a:lvl3pPr marL="1008126" indent="0">
              <a:buNone/>
              <a:defRPr sz="1985" b="1"/>
            </a:lvl3pPr>
            <a:lvl4pPr marL="1512189" indent="0">
              <a:buNone/>
              <a:defRPr sz="1764" b="1"/>
            </a:lvl4pPr>
            <a:lvl5pPr marL="2016252" indent="0">
              <a:buNone/>
              <a:defRPr sz="1764" b="1"/>
            </a:lvl5pPr>
            <a:lvl6pPr marL="2520315" indent="0">
              <a:buNone/>
              <a:defRPr sz="1764" b="1"/>
            </a:lvl6pPr>
            <a:lvl7pPr marL="3024378" indent="0">
              <a:buNone/>
              <a:defRPr sz="1764" b="1"/>
            </a:lvl7pPr>
            <a:lvl8pPr marL="3528441" indent="0">
              <a:buNone/>
              <a:defRPr sz="1764" b="1"/>
            </a:lvl8pPr>
            <a:lvl9pPr marL="4032504" indent="0">
              <a:buNone/>
              <a:defRPr sz="1764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961"/>
            <a:ext cx="4545413" cy="40624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2F206-934A-4AEB-8CDD-488D750A95A8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67D6-1FB7-4AD0-B74D-9D191D0916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3402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2F206-934A-4AEB-8CDD-488D750A95A8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67D6-1FB7-4AD0-B74D-9D191D0916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6408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2F206-934A-4AEB-8CDD-488D750A95A8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67D6-1FB7-4AD0-B74D-9D191D0916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3162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4084"/>
            <a:ext cx="3448388" cy="1764295"/>
          </a:xfrm>
        </p:spPr>
        <p:txBody>
          <a:bodyPr anchor="b"/>
          <a:lstStyle>
            <a:lvl1pPr>
              <a:defRPr sz="3528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683"/>
            <a:ext cx="5412730" cy="5373398"/>
          </a:xfrm>
        </p:spPr>
        <p:txBody>
          <a:bodyPr/>
          <a:lstStyle>
            <a:lvl1pPr>
              <a:defRPr sz="3528"/>
            </a:lvl1pPr>
            <a:lvl2pPr>
              <a:defRPr sz="3087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8379"/>
            <a:ext cx="3448388" cy="4202453"/>
          </a:xfrm>
        </p:spPr>
        <p:txBody>
          <a:bodyPr/>
          <a:lstStyle>
            <a:lvl1pPr marL="0" indent="0">
              <a:buNone/>
              <a:defRPr sz="1764"/>
            </a:lvl1pPr>
            <a:lvl2pPr marL="504063" indent="0">
              <a:buNone/>
              <a:defRPr sz="1544"/>
            </a:lvl2pPr>
            <a:lvl3pPr marL="1008126" indent="0">
              <a:buNone/>
              <a:defRPr sz="1323"/>
            </a:lvl3pPr>
            <a:lvl4pPr marL="1512189" indent="0">
              <a:buNone/>
              <a:defRPr sz="1103"/>
            </a:lvl4pPr>
            <a:lvl5pPr marL="2016252" indent="0">
              <a:buNone/>
              <a:defRPr sz="1103"/>
            </a:lvl5pPr>
            <a:lvl6pPr marL="2520315" indent="0">
              <a:buNone/>
              <a:defRPr sz="1103"/>
            </a:lvl6pPr>
            <a:lvl7pPr marL="3024378" indent="0">
              <a:buNone/>
              <a:defRPr sz="1103"/>
            </a:lvl7pPr>
            <a:lvl8pPr marL="3528441" indent="0">
              <a:buNone/>
              <a:defRPr sz="1103"/>
            </a:lvl8pPr>
            <a:lvl9pPr marL="4032504" indent="0">
              <a:buNone/>
              <a:defRPr sz="1103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2F206-934A-4AEB-8CDD-488D750A95A8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67D6-1FB7-4AD0-B74D-9D191D0916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4565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4084"/>
            <a:ext cx="3448388" cy="1764295"/>
          </a:xfrm>
        </p:spPr>
        <p:txBody>
          <a:bodyPr anchor="b"/>
          <a:lstStyle>
            <a:lvl1pPr>
              <a:defRPr sz="3528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683"/>
            <a:ext cx="5412730" cy="5373398"/>
          </a:xfrm>
        </p:spPr>
        <p:txBody>
          <a:bodyPr anchor="t"/>
          <a:lstStyle>
            <a:lvl1pPr marL="0" indent="0">
              <a:buNone/>
              <a:defRPr sz="3528"/>
            </a:lvl1pPr>
            <a:lvl2pPr marL="504063" indent="0">
              <a:buNone/>
              <a:defRPr sz="3087"/>
            </a:lvl2pPr>
            <a:lvl3pPr marL="1008126" indent="0">
              <a:buNone/>
              <a:defRPr sz="2646"/>
            </a:lvl3pPr>
            <a:lvl4pPr marL="1512189" indent="0">
              <a:buNone/>
              <a:defRPr sz="2205"/>
            </a:lvl4pPr>
            <a:lvl5pPr marL="2016252" indent="0">
              <a:buNone/>
              <a:defRPr sz="2205"/>
            </a:lvl5pPr>
            <a:lvl6pPr marL="2520315" indent="0">
              <a:buNone/>
              <a:defRPr sz="2205"/>
            </a:lvl6pPr>
            <a:lvl7pPr marL="3024378" indent="0">
              <a:buNone/>
              <a:defRPr sz="2205"/>
            </a:lvl7pPr>
            <a:lvl8pPr marL="3528441" indent="0">
              <a:buNone/>
              <a:defRPr sz="2205"/>
            </a:lvl8pPr>
            <a:lvl9pPr marL="4032504" indent="0">
              <a:buNone/>
              <a:defRPr sz="2205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8379"/>
            <a:ext cx="3448388" cy="4202453"/>
          </a:xfrm>
        </p:spPr>
        <p:txBody>
          <a:bodyPr/>
          <a:lstStyle>
            <a:lvl1pPr marL="0" indent="0">
              <a:buNone/>
              <a:defRPr sz="1764"/>
            </a:lvl1pPr>
            <a:lvl2pPr marL="504063" indent="0">
              <a:buNone/>
              <a:defRPr sz="1544"/>
            </a:lvl2pPr>
            <a:lvl3pPr marL="1008126" indent="0">
              <a:buNone/>
              <a:defRPr sz="1323"/>
            </a:lvl3pPr>
            <a:lvl4pPr marL="1512189" indent="0">
              <a:buNone/>
              <a:defRPr sz="1103"/>
            </a:lvl4pPr>
            <a:lvl5pPr marL="2016252" indent="0">
              <a:buNone/>
              <a:defRPr sz="1103"/>
            </a:lvl5pPr>
            <a:lvl6pPr marL="2520315" indent="0">
              <a:buNone/>
              <a:defRPr sz="1103"/>
            </a:lvl6pPr>
            <a:lvl7pPr marL="3024378" indent="0">
              <a:buNone/>
              <a:defRPr sz="1103"/>
            </a:lvl7pPr>
            <a:lvl8pPr marL="3528441" indent="0">
              <a:buNone/>
              <a:defRPr sz="1103"/>
            </a:lvl8pPr>
            <a:lvl9pPr marL="4032504" indent="0">
              <a:buNone/>
              <a:defRPr sz="1103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2F206-934A-4AEB-8CDD-488D750A95A8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67D6-1FB7-4AD0-B74D-9D191D0916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3684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2F206-934A-4AEB-8CDD-488D750A95A8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67D6-1FB7-4AD0-B74D-9D191D0916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7597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567"/>
            <a:ext cx="2305422" cy="64078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567"/>
            <a:ext cx="6782619" cy="640782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12F206-934A-4AEB-8CDD-488D750A95A8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67D6-1FB7-4AD0-B74D-9D191D0916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1352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569"/>
            <a:ext cx="9221689" cy="1461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836"/>
            <a:ext cx="9221689" cy="4797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8172"/>
            <a:ext cx="2405658" cy="402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2F206-934A-4AEB-8CDD-488D750A95A8}" type="datetimeFigureOut">
              <a:rPr lang="ru-RU" smtClean="0"/>
              <a:t>13.04.2026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8172"/>
            <a:ext cx="3608487" cy="402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8172"/>
            <a:ext cx="2405658" cy="402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CD67D6-1FB7-4AD0-B74D-9D191D09169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6763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8126" rtl="0" eaLnBrk="1" latinLnBrk="0" hangingPunct="1">
        <a:lnSpc>
          <a:spcPct val="90000"/>
        </a:lnSpc>
        <a:spcBef>
          <a:spcPct val="0"/>
        </a:spcBef>
        <a:buNone/>
        <a:defRPr sz="48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032" indent="-252032" algn="l" defTabSz="1008126" rtl="0" eaLnBrk="1" latinLnBrk="0" hangingPunct="1">
        <a:lnSpc>
          <a:spcPct val="90000"/>
        </a:lnSpc>
        <a:spcBef>
          <a:spcPts val="1103"/>
        </a:spcBef>
        <a:buFont typeface="Arial" panose="020B0604020202020204" pitchFamily="34" charset="0"/>
        <a:buChar char="•"/>
        <a:defRPr sz="3087" kern="1200">
          <a:solidFill>
            <a:schemeClr val="tx1"/>
          </a:solidFill>
          <a:latin typeface="+mn-lt"/>
          <a:ea typeface="+mn-ea"/>
          <a:cs typeface="+mn-cs"/>
        </a:defRPr>
      </a:lvl1pPr>
      <a:lvl2pPr marL="756095" indent="-252032" algn="l" defTabSz="100812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60158" indent="-252032" algn="l" defTabSz="100812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4221" indent="-252032" algn="l" defTabSz="100812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268284" indent="-252032" algn="l" defTabSz="100812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772347" indent="-252032" algn="l" defTabSz="100812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276410" indent="-252032" algn="l" defTabSz="100812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780473" indent="-252032" algn="l" defTabSz="100812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284536" indent="-252032" algn="l" defTabSz="1008126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1pPr>
      <a:lvl2pPr marL="504063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1008126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3pPr>
      <a:lvl4pPr marL="1512189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4pPr>
      <a:lvl5pPr marL="2016252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5pPr>
      <a:lvl6pPr marL="2520315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6pPr>
      <a:lvl7pPr marL="3024378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7pPr>
      <a:lvl8pPr marL="3528441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8pPr>
      <a:lvl9pPr marL="4032504" algn="l" defTabSz="1008126" rtl="0" eaLnBrk="1" latinLnBrk="0" hangingPunct="1">
        <a:defRPr sz="19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185C7A-5BD7-4D9C-BBFC-407877B77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61" y="176793"/>
            <a:ext cx="9221689" cy="703742"/>
          </a:xfrm>
        </p:spPr>
        <p:txBody>
          <a:bodyPr>
            <a:normAutofit/>
          </a:bodyPr>
          <a:lstStyle/>
          <a:p>
            <a:r>
              <a:rPr lang="ru-RU" sz="3600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Фиксированные значения и условия</a:t>
            </a:r>
            <a:r>
              <a:rPr lang="en-US" sz="3600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ru-RU" sz="3600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17E645-FBFC-4179-B205-BCEA75B197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333" y="1106312"/>
            <a:ext cx="10272889" cy="627815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000" b="0" dirty="0">
                <a:solidFill>
                  <a:schemeClr val="bg2">
                    <a:lumMod val="25000"/>
                  </a:schemeClr>
                </a:solidFill>
                <a:effectLst/>
                <a:latin typeface="Consolas" panose="020B0609020204030204" pitchFamily="49" charset="0"/>
              </a:rPr>
              <a:t>Земные константы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ru-RU" sz="2000" dirty="0">
              <a:solidFill>
                <a:srgbClr val="9CDCFE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 err="1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payloadMass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1000.0</a:t>
            </a:r>
            <a:r>
              <a:rPr lang="ru-RU" sz="2000" dirty="0">
                <a:solidFill>
                  <a:srgbClr val="B5CEA8"/>
                </a:solidFill>
                <a:latin typeface="Consolas" panose="020B0609020204030204" pitchFamily="49" charset="0"/>
              </a:rPr>
              <a:t>		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кг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 err="1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initialAltitude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ru-RU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		</a:t>
            </a:r>
            <a:r>
              <a:rPr lang="en-US" sz="20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20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м</a:t>
            </a:r>
            <a:endParaRPr lang="en-US" sz="2000" b="0" dirty="0">
              <a:solidFill>
                <a:srgbClr val="B5CEA8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 err="1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structuralFraction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0.06</a:t>
            </a:r>
            <a:r>
              <a:rPr lang="en-US" sz="20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 err="1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dragCoefficient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0.35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 err="1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referenceArea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20.0</a:t>
            </a:r>
            <a:endParaRPr lang="ru-RU" sz="2000" b="0" dirty="0">
              <a:solidFill>
                <a:srgbClr val="92D05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en-US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 err="1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exhaustVelocity</a:t>
            </a:r>
            <a:r>
              <a:rPr lang="en-US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м/с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 err="1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seaLevelThrust</a:t>
            </a:r>
            <a:r>
              <a:rPr lang="en-US" sz="2000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 	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Н</a:t>
            </a:r>
            <a:endParaRPr lang="ru-RU" sz="20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2000" b="0" dirty="0" err="1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vacuumThrust</a:t>
            </a:r>
            <a:r>
              <a:rPr lang="en-US" sz="2000" b="0" dirty="0">
                <a:solidFill>
                  <a:srgbClr val="00B0F0"/>
                </a:solidFill>
                <a:effectLst/>
                <a:latin typeface="Consolas" panose="020B0609020204030204" pitchFamily="49" charset="0"/>
              </a:rPr>
              <a:t>		</a:t>
            </a:r>
            <a:r>
              <a:rPr lang="en-US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ru-RU" sz="20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Н</a:t>
            </a:r>
            <a:endParaRPr lang="en-US" sz="2000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ru-RU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Значения могут отличаться на 1-3% от реальных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br>
              <a:rPr lang="ru-RU" sz="20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</a:br>
            <a:r>
              <a:rPr lang="ru-RU" sz="2000" b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onsolas" panose="020B0609020204030204" pitchFamily="49" charset="0"/>
              </a:rPr>
              <a:t>Ракета одноступенчатая (один двигатель)</a:t>
            </a:r>
            <a:endParaRPr lang="en-US" sz="2000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ru-RU" sz="2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000" b="0" dirty="0">
                <a:solidFill>
                  <a:schemeClr val="bg2">
                    <a:lumMod val="25000"/>
                  </a:schemeClr>
                </a:solidFill>
                <a:effectLst/>
                <a:latin typeface="Consolas" panose="020B0609020204030204" pitchFamily="49" charset="0"/>
              </a:rPr>
              <a:t>Максимизируем итоговую скорость</a:t>
            </a:r>
            <a:endParaRPr lang="en-US" sz="2000" b="0" dirty="0">
              <a:solidFill>
                <a:schemeClr val="bg2">
                  <a:lumMod val="25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156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417E645-FBFC-4179-B205-BCEA75B197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6474" y="345584"/>
                <a:ext cx="3719494" cy="2224913"/>
              </a:xfrm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ru-RU" sz="1800" b="1" dirty="0">
                    <a:solidFill>
                      <a:schemeClr val="bg2">
                        <a:lumMod val="25000"/>
                      </a:schemeClr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Массовый расход топлива</a:t>
                </a:r>
                <a:endParaRPr lang="ru-RU" sz="1800" b="1" i="1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ru-RU" sz="18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acc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</m:acc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𝐹</m:t>
                          </m:r>
                        </m:num>
                        <m:den>
                          <m:sSub>
                            <m:sSub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acc>
                      <m:accPr>
                        <m:chr m:val="̇"/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𝑚</m:t>
                        </m:r>
                      </m:e>
                    </m:acc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— массовый расход (кг/с) 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𝐹</m:t>
                    </m:r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— тяга двигателя (Н) 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ru-RU" sz="1800" b="0" dirty="0">
                    <a:effectLst/>
                    <a:ea typeface="Times New Roman" panose="02020603050405020304" pitchFamily="18" charset="0"/>
                    <a:cs typeface="Calibri" panose="020F0502020204030204" pitchFamily="34" charset="0"/>
                  </a:rPr>
                  <a:t>-</a:t>
                </a:r>
                <a14:m>
                  <m:oMath xmlns:m="http://schemas.openxmlformats.org/officeDocument/2006/math">
                    <m:r>
                      <a:rPr lang="ru-RU" sz="1800" b="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𝑣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𝑒</m:t>
                        </m:r>
                      </m:sub>
                    </m:sSub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— скорость истечения (м/с)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Tx/>
                  <a:buChar char="-"/>
                </a:pPr>
                <a:endParaRPr lang="ru-RU" sz="1800" dirty="0">
                  <a:latin typeface="Calibri" panose="020F0502020204030204" pitchFamily="34" charset="0"/>
                  <a:ea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Tx/>
                  <a:buChar char="-"/>
                </a:pP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417E645-FBFC-4179-B205-BCEA75B197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6474" y="345584"/>
                <a:ext cx="3719494" cy="2224913"/>
              </a:xfrm>
              <a:blipFill>
                <a:blip r:embed="rId2"/>
                <a:stretch>
                  <a:fillRect l="-1144" t="-1362"/>
                </a:stretch>
              </a:blip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84BC9F1-2AD5-4AC6-9622-348ABE77C287}"/>
                  </a:ext>
                </a:extLst>
              </p:cNvPr>
              <p:cNvSpPr txBox="1"/>
              <p:nvPr/>
            </p:nvSpPr>
            <p:spPr>
              <a:xfrm>
                <a:off x="4473777" y="285893"/>
                <a:ext cx="5737480" cy="1999137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marL="0" indent="0">
                  <a:spcAft>
                    <a:spcPts val="600"/>
                  </a:spcAft>
                  <a:buNone/>
                </a:pPr>
                <a:r>
                  <a:rPr lang="ru-RU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Структурная масса ступени 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𝑠</m:t>
                          </m:r>
                        </m:sub>
                      </m:sSub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8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α</m:t>
                          </m:r>
                        </m:num>
                        <m:den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1−</m:t>
                          </m:r>
                          <m:r>
                            <m:rPr>
                              <m:sty m:val="p"/>
                            </m:rPr>
                            <a:rPr lang="en-US" sz="18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α</m:t>
                          </m:r>
                        </m:den>
                      </m:f>
                      <m:r>
                        <a:rPr lang="ru-RU" sz="1800"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⋅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fuel</m:t>
                          </m:r>
                        </m:sub>
                      </m:sSub>
                    </m:oMath>
                  </m:oMathPara>
                </a14:m>
                <a:endParaRPr lang="ru-RU" sz="18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spcAft>
                    <a:spcPts val="600"/>
                  </a:spcAft>
                  <a:buNone/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𝑚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𝑠</m:t>
                        </m:r>
                      </m:sub>
                    </m:sSub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— структурная масса (кг) 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>
                  <a:spcAft>
                    <a:spcPts val="600"/>
                  </a:spcAft>
                  <a:buNone/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ru-RU" sz="18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α</m:t>
                    </m:r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— структурная доля (безразмерная,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0 &lt; </m:t>
                    </m:r>
                    <m:r>
                      <m:rPr>
                        <m:sty m:val="p"/>
                      </m:rPr>
                      <a:rPr lang="ru-RU" sz="18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α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&lt; 1</m:t>
                    </m:r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) 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>
                  <a:spcAft>
                    <a:spcPts val="600"/>
                  </a:spcAft>
                  <a:buNone/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𝑚</m:t>
                        </m:r>
                      </m:e>
                      <m:sub>
                        <m:r>
                          <m:rPr>
                            <m:nor/>
                          </m:rPr>
                          <a:rPr lang="ru-RU" sz="18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rPr>
                          <m:t>fuel</m:t>
                        </m:r>
                      </m:sub>
                    </m:sSub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— масса топлива (кг) 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84BC9F1-2AD5-4AC6-9622-348ABE77C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3777" y="285893"/>
                <a:ext cx="5737480" cy="1999137"/>
              </a:xfrm>
              <a:prstGeom prst="rect">
                <a:avLst/>
              </a:prstGeom>
              <a:blipFill>
                <a:blip r:embed="rId3"/>
                <a:stretch>
                  <a:fillRect l="-848" t="-1515" b="-3030"/>
                </a:stretch>
              </a:blip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F2040B8-EC3E-4372-8C9D-722ACE00D3B5}"/>
                  </a:ext>
                </a:extLst>
              </p:cNvPr>
              <p:cNvSpPr txBox="1"/>
              <p:nvPr/>
            </p:nvSpPr>
            <p:spPr>
              <a:xfrm>
                <a:off x="514342" y="5478105"/>
                <a:ext cx="4199340" cy="1547924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ru-RU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Текущая масса всей ракеты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80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</a:rPr>
                            <m:t>rocket</m:t>
                          </m:r>
                        </m:sub>
                      </m:sSub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ru-RU" sz="180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</a:rPr>
                            <m:t>payload</m:t>
                          </m:r>
                        </m:sub>
                      </m:sSub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ru-RU" sz="1800">
                                  <a:effectLst/>
                                  <a:latin typeface="Calibri" panose="020F0502020204030204" pitchFamily="34" charset="0"/>
                                  <a:ea typeface="Times New Roman" panose="02020603050405020304" pitchFamily="18" charset="0"/>
                                </a:rPr>
                                <m:t>stage</m:t>
                              </m:r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,</m:t>
                              </m:r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ru-RU" sz="1800" i="1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ru-RU" sz="180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</a:rPr>
                            <m:t>только активные ступени</m:t>
                          </m:r>
                        </m:e>
                      </m:d>
                    </m:oMath>
                  </m:oMathPara>
                </a14:m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F2040B8-EC3E-4372-8C9D-722ACE00D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342" y="5478105"/>
                <a:ext cx="4199340" cy="1547924"/>
              </a:xfrm>
              <a:prstGeom prst="rect">
                <a:avLst/>
              </a:prstGeom>
              <a:blipFill>
                <a:blip r:embed="rId4"/>
                <a:stretch>
                  <a:fillRect l="-1013" t="-1953"/>
                </a:stretch>
              </a:blip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9A8D2F5-1A89-4C11-8C03-71C5DFB9CB62}"/>
                  </a:ext>
                </a:extLst>
              </p:cNvPr>
              <p:cNvSpPr txBox="1"/>
              <p:nvPr/>
            </p:nvSpPr>
            <p:spPr>
              <a:xfrm>
                <a:off x="396474" y="2905875"/>
                <a:ext cx="4511857" cy="1911292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ru-RU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Текущая масса одной ступени</a:t>
                </a:r>
                <a:endParaRPr lang="ru-RU" sz="18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</a:rPr>
                            <m:t>stage</m:t>
                          </m:r>
                        </m:sub>
                      </m:sSub>
                      <m:d>
                        <m:d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𝑡</m:t>
                          </m:r>
                        </m:e>
                      </m:d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𝑠</m:t>
                          </m:r>
                        </m:sub>
                      </m:sSub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</a:rPr>
                            <m:t>fuel</m:t>
                          </m:r>
                        </m:sub>
                      </m:sSub>
                      <m:d>
                        <m:d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𝑡</m:t>
                          </m:r>
                        </m:e>
                      </m:d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+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800">
                              <a:effectLst/>
                              <a:latin typeface="Calibri" panose="020F0502020204030204" pitchFamily="34" charset="0"/>
                              <a:ea typeface="Times New Roman" panose="02020603050405020304" pitchFamily="18" charset="0"/>
                            </a:rPr>
                            <m:t>penalty</m:t>
                          </m:r>
                        </m:sub>
                      </m:sSub>
                    </m:oMath>
                  </m:oMathPara>
                </a14:m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𝑚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𝑠</m:t>
                        </m:r>
                      </m:sub>
                    </m:sSub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— структурная масса (кг) 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𝑚</m:t>
                        </m:r>
                      </m:e>
                      <m:sub>
                        <m:r>
                          <m:rPr>
                            <m:nor/>
                          </m:rPr>
                          <a:rPr lang="ru-RU" sz="18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rPr>
                          <m:t>fuel</m:t>
                        </m:r>
                      </m:sub>
                    </m:sSub>
                    <m:d>
                      <m:d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𝑡</m:t>
                        </m:r>
                      </m:e>
                    </m:d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— текущая масса топлива (кг) 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𝑚</m:t>
                        </m:r>
                      </m:e>
                      <m:sub>
                        <m:r>
                          <m:rPr>
                            <m:nor/>
                          </m:rPr>
                          <a:rPr lang="ru-RU" sz="18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rPr>
                          <m:t>penalty</m:t>
                        </m:r>
                      </m:sub>
                    </m:sSub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— межступенчатый штраф (кг) 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9A8D2F5-1A89-4C11-8C03-71C5DFB9CB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474" y="2905875"/>
                <a:ext cx="4511857" cy="1911292"/>
              </a:xfrm>
              <a:prstGeom prst="rect">
                <a:avLst/>
              </a:prstGeom>
              <a:blipFill>
                <a:blip r:embed="rId5"/>
                <a:stretch>
                  <a:fillRect l="-943" t="-1587" b="-1905"/>
                </a:stretch>
              </a:blip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6B86D8D-75DA-4D70-895D-66D095C16BAA}"/>
                  </a:ext>
                </a:extLst>
              </p:cNvPr>
              <p:cNvSpPr txBox="1"/>
              <p:nvPr/>
            </p:nvSpPr>
            <p:spPr>
              <a:xfrm>
                <a:off x="5163208" y="3476435"/>
                <a:ext cx="5344510" cy="2775632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ru-RU" b="1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Ускорение свободного падения на высоте</a:t>
                </a:r>
                <a:endParaRPr lang="ru-RU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𝑔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h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𝐺𝑀</m:t>
                          </m:r>
                        </m:num>
                        <m:den>
                          <m:sSup>
                            <m:sSupPr>
                              <m:ctrlPr>
                                <a:rPr lang="ru-RU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  <m:t>𝑅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  <m:t>h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ru-RU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ru-RU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ru-RU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ru-RU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𝑔</m:t>
                    </m:r>
                    <m:d>
                      <m:dPr>
                        <m:ctrlPr>
                          <a:rPr lang="ru-RU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h</m:t>
                        </m:r>
                      </m:e>
                    </m:d>
                    <m:r>
                      <m:rPr>
                        <m:lit/>
                      </m:rPr>
                      <a:rPr lang="ru-RU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 — ускорение силы тяжести (м/с²) </a:t>
                </a:r>
                <a:endParaRPr lang="ru-RU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ru-RU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ru-RU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ru-RU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𝐺</m:t>
                    </m:r>
                    <m:r>
                      <m:rPr>
                        <m:lit/>
                      </m:rPr>
                      <a:rPr lang="ru-RU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 — гравитационная постоянная (м³·кг⁻¹·с⁻²) </a:t>
                </a:r>
                <a:endParaRPr lang="ru-RU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ru-RU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ru-RU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ru-RU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𝑀</m:t>
                    </m:r>
                    <m:r>
                      <m:rPr>
                        <m:lit/>
                      </m:rPr>
                      <a:rPr lang="ru-RU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 — масса планеты (кг) </a:t>
                </a:r>
                <a:endParaRPr lang="ru-RU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ru-RU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ru-RU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ru-RU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𝑅</m:t>
                    </m:r>
                    <m:r>
                      <m:rPr>
                        <m:lit/>
                      </m:rPr>
                      <a:rPr lang="ru-RU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 — радиус планеты (м) </a:t>
                </a:r>
                <a:endParaRPr lang="ru-RU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ru-RU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ru-RU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ru-RU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h</m:t>
                    </m:r>
                    <m:r>
                      <m:rPr>
                        <m:lit/>
                      </m:rPr>
                      <a:rPr lang="ru-RU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dirty="0">
                    <a:latin typeface="Calibri" panose="020F0502020204030204" pitchFamily="34" charset="0"/>
                    <a:ea typeface="Times New Roman" panose="02020603050405020304" pitchFamily="18" charset="0"/>
                  </a:rPr>
                  <a:t> — высота над поверхностью (м) </a:t>
                </a:r>
                <a:endParaRPr lang="ru-RU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6B86D8D-75DA-4D70-895D-66D095C16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3208" y="3476435"/>
                <a:ext cx="5344510" cy="2775632"/>
              </a:xfrm>
              <a:prstGeom prst="rect">
                <a:avLst/>
              </a:prstGeom>
              <a:blipFill>
                <a:blip r:embed="rId6"/>
                <a:stretch>
                  <a:fillRect l="-910" t="-873" b="-2183"/>
                </a:stretch>
              </a:blip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1069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8CFBDAA-B845-4C53-8511-67F56157498B}"/>
                  </a:ext>
                </a:extLst>
              </p:cNvPr>
              <p:cNvSpPr txBox="1"/>
              <p:nvPr/>
            </p:nvSpPr>
            <p:spPr>
              <a:xfrm>
                <a:off x="249620" y="683763"/>
                <a:ext cx="4947744" cy="2734595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ru-RU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Сила аэродинамического сопротивления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𝑑</m:t>
                          </m:r>
                        </m:sub>
                      </m:sSub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𝐶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𝑑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8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ρ</m:t>
                      </m:r>
                      <m:sSup>
                        <m:sSup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𝑣</m:t>
                          </m:r>
                        </m:e>
                        <m:sup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𝐴</m:t>
                      </m:r>
                    </m:oMath>
                  </m:oMathPara>
                </a14:m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𝑑</m:t>
                        </m:r>
                      </m:sub>
                    </m:sSub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— сила сопротивления (Н) 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𝐶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𝑑</m:t>
                        </m:r>
                      </m:sub>
                    </m:sSub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— коэффициент сопротивления () 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ru-RU" sz="18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ρ</m:t>
                    </m:r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— плотность воздуха (кг/м³) 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𝑣</m:t>
                    </m:r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— скорость (м/с) 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𝐴</m:t>
                    </m:r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— характерная площадь поп. сечения (м²) 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8CFBDAA-B845-4C53-8511-67F561574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620" y="683763"/>
                <a:ext cx="4947744" cy="2734595"/>
              </a:xfrm>
              <a:prstGeom prst="rect">
                <a:avLst/>
              </a:prstGeom>
              <a:blipFill>
                <a:blip r:embed="rId2"/>
                <a:stretch>
                  <a:fillRect l="-983" t="-887" b="-2439"/>
                </a:stretch>
              </a:blip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8C239B4-0FFD-4322-9B37-292DBF6807A0}"/>
                  </a:ext>
                </a:extLst>
              </p:cNvPr>
              <p:cNvSpPr txBox="1"/>
              <p:nvPr/>
            </p:nvSpPr>
            <p:spPr>
              <a:xfrm>
                <a:off x="5552088" y="933960"/>
                <a:ext cx="4947745" cy="2484398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ru-RU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Плотность воздуха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</a:t>
                </a:r>
                <a:endParaRPr lang="ru-RU" sz="1800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8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ρ</m:t>
                      </m:r>
                      <m:d>
                        <m:d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h</m:t>
                          </m:r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ρ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0</m:t>
                          </m:r>
                        </m:sub>
                      </m:sSub>
                      <m:func>
                        <m:func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ru-RU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  <m:t>h</m:t>
                                  </m:r>
                                </m:num>
                                <m:den>
                                  <m:r>
                                    <a:rPr lang="en-US" sz="18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Calibri" panose="020F0502020204030204" pitchFamily="34" charset="0"/>
                                    </a:rPr>
                                    <m:t>𝐻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ru-RU" sz="18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ρ</m:t>
                    </m:r>
                    <m:d>
                      <m:d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h</m:t>
                        </m:r>
                      </m:e>
                    </m:d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— плотность на высоте (кг/м³) 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u-RU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ρ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0</m:t>
                        </m:r>
                      </m:sub>
                    </m:sSub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— плотность на уровне моря (1.225 кг/м³) 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𝐻</m:t>
                    </m:r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— высота масштаба атмосферы (8500 м) 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h</m:t>
                    </m:r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— высота (м) 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8C239B4-0FFD-4322-9B37-292DBF680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2088" y="933960"/>
                <a:ext cx="4947745" cy="2484398"/>
              </a:xfrm>
              <a:prstGeom prst="rect">
                <a:avLst/>
              </a:prstGeom>
              <a:blipFill>
                <a:blip r:embed="rId3"/>
                <a:stretch>
                  <a:fillRect l="-984" t="-976" r="-369" b="-2683"/>
                </a:stretch>
              </a:blip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7010AF4-E67F-4CE0-A7C0-A9F5264FE515}"/>
                  </a:ext>
                </a:extLst>
              </p:cNvPr>
              <p:cNvSpPr txBox="1"/>
              <p:nvPr/>
            </p:nvSpPr>
            <p:spPr>
              <a:xfrm>
                <a:off x="591205" y="3985113"/>
                <a:ext cx="4264574" cy="2751972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ru-RU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Уравнение движения ракеты</a:t>
                </a: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</a:t>
                </a:r>
                <a:endParaRPr lang="ru-RU" sz="1800" i="1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Calibri" panose="020F0502020204030204" pitchFamily="34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=</m:t>
                      </m:r>
                      <m:f>
                        <m:f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800">
                                  <a:effectLst/>
                                  <a:latin typeface="Calibri" panose="020F0502020204030204" pitchFamily="34" charset="0"/>
                                  <a:ea typeface="Times New Roman" panose="02020603050405020304" pitchFamily="18" charset="0"/>
                                </a:rPr>
                                <m:t>thrust</m:t>
                              </m:r>
                            </m:sub>
                          </m:s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8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libri" panose="020F0502020204030204" pitchFamily="34" charset="0"/>
                                </a:rPr>
                                <m:t>𝑑</m:t>
                              </m:r>
                            </m:sub>
                          </m:s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−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𝑚𝑔</m:t>
                          </m:r>
                        </m:num>
                        <m:den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𝑎</m:t>
                    </m:r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— ускорение (м/с²) 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  <m:sub>
                        <m:r>
                          <m:rPr>
                            <m:nor/>
                          </m:rPr>
                          <a:rPr lang="ru-RU" sz="1800">
                            <a:effectLst/>
                            <a:latin typeface="Calibri" panose="020F0502020204030204" pitchFamily="34" charset="0"/>
                            <a:ea typeface="Times New Roman" panose="02020603050405020304" pitchFamily="18" charset="0"/>
                          </a:rPr>
                          <m:t>thrust</m:t>
                        </m:r>
                      </m:sub>
                    </m:sSub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— текущая тяга (Н) 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𝐹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Calibri" panose="020F0502020204030204" pitchFamily="34" charset="0"/>
                          </a:rPr>
                          <m:t>𝑑</m:t>
                        </m:r>
                      </m:sub>
                    </m:sSub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— сила сопротивления (Н) 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𝑚</m:t>
                    </m:r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— текущая масса ракеты (кг) 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𝑔</m:t>
                    </m:r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— местное уск. св. падения (м/с²) 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7010AF4-E67F-4CE0-A7C0-A9F5264FE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205" y="3985113"/>
                <a:ext cx="4264574" cy="2751972"/>
              </a:xfrm>
              <a:prstGeom prst="rect">
                <a:avLst/>
              </a:prstGeom>
              <a:blipFill>
                <a:blip r:embed="rId4"/>
                <a:stretch>
                  <a:fillRect l="-1140" t="-1104" b="-2428"/>
                </a:stretch>
              </a:blip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A30E787-B0D0-4A08-AB4A-E8858A97D469}"/>
                  </a:ext>
                </a:extLst>
              </p:cNvPr>
              <p:cNvSpPr txBox="1"/>
              <p:nvPr/>
            </p:nvSpPr>
            <p:spPr>
              <a:xfrm>
                <a:off x="5155323" y="4131029"/>
                <a:ext cx="5344510" cy="2139047"/>
              </a:xfrm>
              <a:prstGeom prst="rect">
                <a:avLst/>
              </a:prstGeom>
              <a:noFill/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ru-RU" sz="1800" b="1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Численное интегрирование методом Эйлера</a:t>
                </a:r>
                <a:endParaRPr lang="ru-RU" dirty="0">
                  <a:latin typeface="Calibri" panose="020F0502020204030204" pitchFamily="34" charset="0"/>
                  <a:ea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𝑣</m:t>
                      </m:r>
                      <m:d>
                        <m:d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𝑡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8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Δ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𝑣</m:t>
                      </m:r>
                      <m:d>
                        <m:d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+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𝑎</m:t>
                      </m:r>
                      <m:d>
                        <m:d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18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Δ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𝑡</m:t>
                      </m:r>
                    </m:oMath>
                  </m:oMathPara>
                </a14:m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h</m:t>
                      </m:r>
                      <m:d>
                        <m:d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𝑡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18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Δ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h</m:t>
                      </m:r>
                      <m:d>
                        <m:d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+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𝑣</m:t>
                      </m:r>
                      <m:d>
                        <m:d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Calibri" panose="020F0502020204030204" pitchFamily="34" charset="0"/>
                            </a:rPr>
                            <m:t>𝑡</m:t>
                          </m:r>
                        </m:e>
                      </m:d>
                      <m:r>
                        <a:rPr lang="en-US" sz="18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18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Δ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𝑡</m:t>
                      </m:r>
                    </m:oMath>
                  </m:oMathPara>
                </a14:m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𝑣</m:t>
                    </m:r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— скорость (м/с) 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h</m:t>
                    </m:r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— высота (м) 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(</m:t>
                    </m:r>
                    <m:r>
                      <m:rPr>
                        <m:sty m:val="p"/>
                      </m:rPr>
                      <a:rPr lang="ru-RU" sz="18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Δ</m:t>
                    </m:r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𝑡</m:t>
                    </m:r>
                    <m:r>
                      <m:rPr>
                        <m:lit/>
                      </m:rP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ru-RU" sz="1800" dirty="0"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— шаг по времени (с) </a:t>
                </a:r>
                <a:endParaRPr lang="ru-RU" sz="1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A30E787-B0D0-4A08-AB4A-E8858A97D4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5323" y="4131029"/>
                <a:ext cx="5344510" cy="2139047"/>
              </a:xfrm>
              <a:prstGeom prst="rect">
                <a:avLst/>
              </a:prstGeom>
              <a:blipFill>
                <a:blip r:embed="rId5"/>
                <a:stretch>
                  <a:fillRect l="-911" t="-1416" b="-3399"/>
                </a:stretch>
              </a:blip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545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98C59E-AF4A-46C9-9A2C-DCEFB5EC15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FED3227-8642-4316-B38C-8A766B4FFC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F51BA12-C848-4E65-915F-8DFD744844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479" y="0"/>
            <a:ext cx="10150854" cy="756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39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A08F64-2BCA-4911-98DC-1E514CFCC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E9FD234-2C27-4333-8E13-0B13885B88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40" b="14640"/>
          <a:stretch/>
        </p:blipFill>
        <p:spPr>
          <a:xfrm>
            <a:off x="0" y="0"/>
            <a:ext cx="10691812" cy="7561263"/>
          </a:xfrm>
        </p:spPr>
      </p:pic>
    </p:spTree>
    <p:extLst>
      <p:ext uri="{BB962C8B-B14F-4D97-AF65-F5344CB8AC3E}">
        <p14:creationId xmlns:p14="http://schemas.microsoft.com/office/powerpoint/2010/main" val="265928303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</TotalTime>
  <Words>519</Words>
  <Application>Microsoft Office PowerPoint</Application>
  <PresentationFormat>Произвольный</PresentationFormat>
  <Paragraphs>69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Consolas</vt:lpstr>
      <vt:lpstr>Times New Roman</vt:lpstr>
      <vt:lpstr>Тема Office</vt:lpstr>
      <vt:lpstr>Фиксированные значения и условия: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Faster Xaos</dc:creator>
  <cp:lastModifiedBy>Faster Xaos</cp:lastModifiedBy>
  <cp:revision>12</cp:revision>
  <dcterms:created xsi:type="dcterms:W3CDTF">2026-03-26T14:46:02Z</dcterms:created>
  <dcterms:modified xsi:type="dcterms:W3CDTF">2026-04-13T20:04:58Z</dcterms:modified>
</cp:coreProperties>
</file>