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2" r:id="rId3"/>
    <p:sldId id="263" r:id="rId4"/>
    <p:sldId id="264" r:id="rId5"/>
    <p:sldId id="256" r:id="rId6"/>
    <p:sldId id="261" r:id="rId7"/>
  </p:sldIdLst>
  <p:sldSz cx="10691813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5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457"/>
            <a:ext cx="9088041" cy="263244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1414"/>
            <a:ext cx="8018860" cy="1825554"/>
          </a:xfrm>
        </p:spPr>
        <p:txBody>
          <a:bodyPr/>
          <a:lstStyle>
            <a:lvl1pPr marL="0" indent="0" algn="ctr">
              <a:buNone/>
              <a:defRPr sz="2646"/>
            </a:lvl1pPr>
            <a:lvl2pPr marL="504063" indent="0" algn="ctr">
              <a:buNone/>
              <a:defRPr sz="2205"/>
            </a:lvl2pPr>
            <a:lvl3pPr marL="1008126" indent="0" algn="ctr">
              <a:buNone/>
              <a:defRPr sz="1985"/>
            </a:lvl3pPr>
            <a:lvl4pPr marL="1512189" indent="0" algn="ctr">
              <a:buNone/>
              <a:defRPr sz="1764"/>
            </a:lvl4pPr>
            <a:lvl5pPr marL="2016252" indent="0" algn="ctr">
              <a:buNone/>
              <a:defRPr sz="1764"/>
            </a:lvl5pPr>
            <a:lvl6pPr marL="2520315" indent="0" algn="ctr">
              <a:buNone/>
              <a:defRPr sz="1764"/>
            </a:lvl6pPr>
            <a:lvl7pPr marL="3024378" indent="0" algn="ctr">
              <a:buNone/>
              <a:defRPr sz="1764"/>
            </a:lvl7pPr>
            <a:lvl8pPr marL="3528441" indent="0" algn="ctr">
              <a:buNone/>
              <a:defRPr sz="1764"/>
            </a:lvl8pPr>
            <a:lvl9pPr marL="4032504" indent="0" algn="ctr">
              <a:buNone/>
              <a:defRPr sz="1764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651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747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5067"/>
            <a:ext cx="9221689" cy="3145275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60097"/>
            <a:ext cx="9221689" cy="1654026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4063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8126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18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25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437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844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2504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8887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836"/>
            <a:ext cx="4544021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836"/>
            <a:ext cx="4544021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711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569"/>
            <a:ext cx="9221689" cy="146149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560"/>
            <a:ext cx="4523137" cy="908401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4063" indent="0">
              <a:buNone/>
              <a:defRPr sz="2205" b="1"/>
            </a:lvl2pPr>
            <a:lvl3pPr marL="1008126" indent="0">
              <a:buNone/>
              <a:defRPr sz="1985" b="1"/>
            </a:lvl3pPr>
            <a:lvl4pPr marL="1512189" indent="0">
              <a:buNone/>
              <a:defRPr sz="1764" b="1"/>
            </a:lvl4pPr>
            <a:lvl5pPr marL="2016252" indent="0">
              <a:buNone/>
              <a:defRPr sz="1764" b="1"/>
            </a:lvl5pPr>
            <a:lvl6pPr marL="2520315" indent="0">
              <a:buNone/>
              <a:defRPr sz="1764" b="1"/>
            </a:lvl6pPr>
            <a:lvl7pPr marL="3024378" indent="0">
              <a:buNone/>
              <a:defRPr sz="1764" b="1"/>
            </a:lvl7pPr>
            <a:lvl8pPr marL="3528441" indent="0">
              <a:buNone/>
              <a:defRPr sz="1764" b="1"/>
            </a:lvl8pPr>
            <a:lvl9pPr marL="4032504" indent="0">
              <a:buNone/>
              <a:defRPr sz="1764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961"/>
            <a:ext cx="4523137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560"/>
            <a:ext cx="4545413" cy="908401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4063" indent="0">
              <a:buNone/>
              <a:defRPr sz="2205" b="1"/>
            </a:lvl2pPr>
            <a:lvl3pPr marL="1008126" indent="0">
              <a:buNone/>
              <a:defRPr sz="1985" b="1"/>
            </a:lvl3pPr>
            <a:lvl4pPr marL="1512189" indent="0">
              <a:buNone/>
              <a:defRPr sz="1764" b="1"/>
            </a:lvl4pPr>
            <a:lvl5pPr marL="2016252" indent="0">
              <a:buNone/>
              <a:defRPr sz="1764" b="1"/>
            </a:lvl5pPr>
            <a:lvl6pPr marL="2520315" indent="0">
              <a:buNone/>
              <a:defRPr sz="1764" b="1"/>
            </a:lvl6pPr>
            <a:lvl7pPr marL="3024378" indent="0">
              <a:buNone/>
              <a:defRPr sz="1764" b="1"/>
            </a:lvl7pPr>
            <a:lvl8pPr marL="3528441" indent="0">
              <a:buNone/>
              <a:defRPr sz="1764" b="1"/>
            </a:lvl8pPr>
            <a:lvl9pPr marL="4032504" indent="0">
              <a:buNone/>
              <a:defRPr sz="1764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961"/>
            <a:ext cx="4545413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3402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408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16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4084"/>
            <a:ext cx="3448388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683"/>
            <a:ext cx="5412730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8379"/>
            <a:ext cx="3448388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565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4084"/>
            <a:ext cx="3448388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683"/>
            <a:ext cx="5412730" cy="5373398"/>
          </a:xfrm>
        </p:spPr>
        <p:txBody>
          <a:bodyPr anchor="t"/>
          <a:lstStyle>
            <a:lvl1pPr marL="0" indent="0">
              <a:buNone/>
              <a:defRPr sz="3528"/>
            </a:lvl1pPr>
            <a:lvl2pPr marL="504063" indent="0">
              <a:buNone/>
              <a:defRPr sz="3087"/>
            </a:lvl2pPr>
            <a:lvl3pPr marL="1008126" indent="0">
              <a:buNone/>
              <a:defRPr sz="2646"/>
            </a:lvl3pPr>
            <a:lvl4pPr marL="1512189" indent="0">
              <a:buNone/>
              <a:defRPr sz="2205"/>
            </a:lvl4pPr>
            <a:lvl5pPr marL="2016252" indent="0">
              <a:buNone/>
              <a:defRPr sz="2205"/>
            </a:lvl5pPr>
            <a:lvl6pPr marL="2520315" indent="0">
              <a:buNone/>
              <a:defRPr sz="2205"/>
            </a:lvl6pPr>
            <a:lvl7pPr marL="3024378" indent="0">
              <a:buNone/>
              <a:defRPr sz="2205"/>
            </a:lvl7pPr>
            <a:lvl8pPr marL="3528441" indent="0">
              <a:buNone/>
              <a:defRPr sz="2205"/>
            </a:lvl8pPr>
            <a:lvl9pPr marL="4032504" indent="0">
              <a:buNone/>
              <a:defRPr sz="2205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8379"/>
            <a:ext cx="3448388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84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597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567"/>
            <a:ext cx="2305422" cy="64078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567"/>
            <a:ext cx="6782619" cy="64078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1352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569"/>
            <a:ext cx="9221689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836"/>
            <a:ext cx="9221689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8172"/>
            <a:ext cx="2405658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2F206-934A-4AEB-8CDD-488D750A95A8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8172"/>
            <a:ext cx="3608487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8172"/>
            <a:ext cx="2405658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6763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8126" rtl="0" eaLnBrk="1" latinLnBrk="0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185C7A-5BD7-4D9C-BBFC-407877B77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061" y="176793"/>
            <a:ext cx="9221689" cy="703742"/>
          </a:xfrm>
        </p:spPr>
        <p:txBody>
          <a:bodyPr>
            <a:normAutofit/>
          </a:bodyPr>
          <a:lstStyle/>
          <a:p>
            <a:r>
              <a:rPr lang="ru-RU" sz="3600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Фиксированные значения и условия</a:t>
            </a:r>
            <a:r>
              <a:rPr lang="en-US" sz="3600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ru-RU" sz="3600" dirty="0">
              <a:solidFill>
                <a:schemeClr val="bg2">
                  <a:lumMod val="2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17E645-FBFC-4179-B205-BCEA75B19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333" y="1106312"/>
            <a:ext cx="10272889" cy="627815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000" b="0" dirty="0">
                <a:solidFill>
                  <a:schemeClr val="bg2">
                    <a:lumMod val="25000"/>
                  </a:schemeClr>
                </a:solidFill>
                <a:effectLst/>
                <a:latin typeface="Consolas" panose="020B0609020204030204" pitchFamily="49" charset="0"/>
              </a:rPr>
              <a:t>Земные константы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ru-RU" sz="2000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payloadMass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1000.0</a:t>
            </a:r>
            <a:r>
              <a:rPr lang="ru-RU" sz="2000" dirty="0">
                <a:solidFill>
                  <a:srgbClr val="B5CEA8"/>
                </a:solidFill>
                <a:latin typeface="Consolas" panose="020B0609020204030204" pitchFamily="49" charset="0"/>
              </a:rPr>
              <a:t>		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кг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initialAltitude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sz="20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м</a:t>
            </a:r>
            <a:endParaRPr lang="en-US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structuralFraction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0.06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dragCoefficient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0.35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referenceArea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20.0</a:t>
            </a:r>
            <a:endParaRPr lang="ru-RU" sz="2000" b="0" dirty="0">
              <a:solidFill>
                <a:srgbClr val="92D05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exhaustVelocity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м/с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seaLevelThrust</a:t>
            </a:r>
            <a:r>
              <a:rPr lang="en-US" sz="20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 	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vacuumThrust</a:t>
            </a:r>
            <a:r>
              <a:rPr lang="en-US" sz="2000" b="0" dirty="0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ru-RU" sz="2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</a:rPr>
              <a:t>Значения могут отличаться на 1-3% от реальных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br>
              <a:rPr lang="ru-RU" sz="2000" b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r>
              <a:rPr lang="ru-RU" sz="2000" b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Ракета одноступенчатая (один двигатель)</a:t>
            </a:r>
            <a:endParaRPr lang="en-US" sz="2000" b="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ru-RU" sz="2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000" b="0" dirty="0">
                <a:solidFill>
                  <a:schemeClr val="bg2">
                    <a:lumMod val="25000"/>
                  </a:schemeClr>
                </a:solidFill>
                <a:effectLst/>
                <a:latin typeface="Consolas" panose="020B0609020204030204" pitchFamily="49" charset="0"/>
              </a:rPr>
              <a:t>Максимизируем итоговую скорость</a:t>
            </a:r>
            <a:endParaRPr lang="en-US" sz="2000" b="0" dirty="0"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156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417E645-FBFC-4179-B205-BCEA75B19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6474" y="345584"/>
                <a:ext cx="3719494" cy="2224913"/>
              </a:xfr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1" dirty="0">
                    <a:solidFill>
                      <a:schemeClr val="bg2">
                        <a:lumMod val="25000"/>
                      </a:scheme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Массовый расход топлива</a:t>
                </a:r>
                <a:endParaRPr lang="ru-RU" sz="1800" b="1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</m:acc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acc>
                      <m:accPr>
                        <m:chr m:val="̇"/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</m:acc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массовый расход (кг/с)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𝐹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тяга двигателя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0" dirty="0">
                    <a:effectLst/>
                    <a:ea typeface="Times New Roman" panose="02020603050405020304" pitchFamily="18" charset="0"/>
                    <a:cs typeface="Calibri" panose="020F0502020204030204" pitchFamily="34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𝑒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истечения (м/с)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Tx/>
                  <a:buChar char="-"/>
                </a:pPr>
                <a:endParaRPr lang="ru-RU" sz="1800" dirty="0">
                  <a:latin typeface="Calibri" panose="020F0502020204030204" pitchFamily="34" charset="0"/>
                  <a:ea typeface="Times New Roman" panose="020206030504050203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Tx/>
                  <a:buChar char="-"/>
                </a:pP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417E645-FBFC-4179-B205-BCEA75B19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6474" y="345584"/>
                <a:ext cx="3719494" cy="2224913"/>
              </a:xfrm>
              <a:blipFill>
                <a:blip r:embed="rId2"/>
                <a:stretch>
                  <a:fillRect l="-1144" t="-1362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4BC9F1-2AD5-4AC6-9622-348ABE77C287}"/>
                  </a:ext>
                </a:extLst>
              </p:cNvPr>
              <p:cNvSpPr txBox="1"/>
              <p:nvPr/>
            </p:nvSpPr>
            <p:spPr>
              <a:xfrm>
                <a:off x="4473777" y="285893"/>
                <a:ext cx="5737480" cy="199913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Структурная масса ступени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𝑠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α</m:t>
                          </m:r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α</m:t>
                          </m:r>
                        </m:den>
                      </m:f>
                      <m:r>
                        <a:rPr lang="ru-RU" sz="180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fuel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структурная масса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α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структурная доля (безразмерная,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0 &lt; 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α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&lt; 1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fuel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масса топлива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4BC9F1-2AD5-4AC6-9622-348ABE77C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777" y="285893"/>
                <a:ext cx="5737480" cy="1999137"/>
              </a:xfrm>
              <a:prstGeom prst="rect">
                <a:avLst/>
              </a:prstGeom>
              <a:blipFill>
                <a:blip r:embed="rId3"/>
                <a:stretch>
                  <a:fillRect l="-848" t="-1515" b="-3030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040B8-EC3E-4372-8C9D-722ACE00D3B5}"/>
                  </a:ext>
                </a:extLst>
              </p:cNvPr>
              <p:cNvSpPr txBox="1"/>
              <p:nvPr/>
            </p:nvSpPr>
            <p:spPr>
              <a:xfrm>
                <a:off x="514342" y="5478105"/>
                <a:ext cx="4199340" cy="1547924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Текущая масса всей ракеты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rocket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payload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ru-RU" sz="1800">
                                  <a:effectLst/>
                                  <a:latin typeface="Calibri" panose="020F0502020204030204" pitchFamily="34" charset="0"/>
                                  <a:ea typeface="Times New Roman" panose="02020603050405020304" pitchFamily="18" charset="0"/>
                                </a:rPr>
                                <m:t>stage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,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ru-RU" sz="180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только активные ступени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040B8-EC3E-4372-8C9D-722ACE00D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2" y="5478105"/>
                <a:ext cx="4199340" cy="1547924"/>
              </a:xfrm>
              <a:prstGeom prst="rect">
                <a:avLst/>
              </a:prstGeom>
              <a:blipFill>
                <a:blip r:embed="rId4"/>
                <a:stretch>
                  <a:fillRect l="-1013" t="-195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A8D2F5-1A89-4C11-8C03-71C5DFB9CB62}"/>
                  </a:ext>
                </a:extLst>
              </p:cNvPr>
              <p:cNvSpPr txBox="1"/>
              <p:nvPr/>
            </p:nvSpPr>
            <p:spPr>
              <a:xfrm>
                <a:off x="396474" y="2905875"/>
                <a:ext cx="4511857" cy="191129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Текущая масса одной ступени</a:t>
                </a:r>
                <a:endParaRPr lang="ru-RU" sz="1800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stage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𝑠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fuel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penalty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— структурная масса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fuel</m:t>
                        </m:r>
                      </m:sub>
                    </m:sSub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масса топлива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penalty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межступенчатый штраф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A8D2F5-1A89-4C11-8C03-71C5DFB9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74" y="2905875"/>
                <a:ext cx="4511857" cy="1911292"/>
              </a:xfrm>
              <a:prstGeom prst="rect">
                <a:avLst/>
              </a:prstGeom>
              <a:blipFill>
                <a:blip r:embed="rId5"/>
                <a:stretch>
                  <a:fillRect l="-943" t="-1587" b="-190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B86D8D-75DA-4D70-895D-66D095C16BAA}"/>
                  </a:ext>
                </a:extLst>
              </p:cNvPr>
              <p:cNvSpPr txBox="1"/>
              <p:nvPr/>
            </p:nvSpPr>
            <p:spPr>
              <a:xfrm>
                <a:off x="5163208" y="3476435"/>
                <a:ext cx="5344510" cy="277563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b="1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Ускорение свободного падения на высоте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𝐺𝑀</m:t>
                          </m:r>
                        </m:num>
                        <m:den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𝑅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силы тяжести (м/с²)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𝐺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гравитационная постоянная (м³·кг⁻¹·с⁻²)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𝑀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масса планеты (кг)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𝑅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радиус планеты (м)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над поверхностью (м)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B86D8D-75DA-4D70-895D-66D095C16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208" y="3476435"/>
                <a:ext cx="5344510" cy="2775632"/>
              </a:xfrm>
              <a:prstGeom prst="rect">
                <a:avLst/>
              </a:prstGeom>
              <a:blipFill>
                <a:blip r:embed="rId6"/>
                <a:stretch>
                  <a:fillRect l="-910" t="-873" b="-21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1069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/>
              <p:nvPr/>
            </p:nvSpPr>
            <p:spPr>
              <a:xfrm>
                <a:off x="249620" y="683763"/>
                <a:ext cx="4947744" cy="2734595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Сила аэродинамического сопротивления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𝐶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ρ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𝐴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сила сопротивления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𝐶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коэффициент сопротивления ()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ρ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воздуха (кг/м³)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𝑣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(м/с)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𝐴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характерная площадь поп. сечения (м²)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20" y="683763"/>
                <a:ext cx="4947744" cy="2734595"/>
              </a:xfrm>
              <a:prstGeom prst="rect">
                <a:avLst/>
              </a:prstGeom>
              <a:blipFill>
                <a:blip r:embed="rId2"/>
                <a:stretch>
                  <a:fillRect l="-983" t="-887" b="-2439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C239B4-0FFD-4322-9B37-292DBF6807A0}"/>
                  </a:ext>
                </a:extLst>
              </p:cNvPr>
              <p:cNvSpPr txBox="1"/>
              <p:nvPr/>
            </p:nvSpPr>
            <p:spPr>
              <a:xfrm>
                <a:off x="5552088" y="933960"/>
                <a:ext cx="4947745" cy="248439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Плотность воздуха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ρ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ρ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𝐻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ρ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на высоте (кг/м³)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ρ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на уровне моря (1.225 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𝐻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масштаба атмосферы (8500 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(м)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C239B4-0FFD-4322-9B37-292DBF680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088" y="933960"/>
                <a:ext cx="4947745" cy="2484398"/>
              </a:xfrm>
              <a:prstGeom prst="rect">
                <a:avLst/>
              </a:prstGeom>
              <a:blipFill>
                <a:blip r:embed="rId3"/>
                <a:stretch>
                  <a:fillRect l="-984" t="-976" r="-369" b="-26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/>
              <p:nvPr/>
            </p:nvSpPr>
            <p:spPr>
              <a:xfrm>
                <a:off x="591205" y="3985113"/>
                <a:ext cx="4264574" cy="275197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Уравнение движения ракеты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libri" panose="020F0502020204030204" pitchFamily="34" charset="0"/>
                                  <a:ea typeface="Times New Roman" panose="02020603050405020304" pitchFamily="18" charset="0"/>
                                </a:rPr>
                                <m:t>thrust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𝑚𝑔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𝑎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(м/с²)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thrust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тяга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сила сопротивления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𝑚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масса ракеты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𝑔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местное уск. св. падения (м/с²)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5" y="3985113"/>
                <a:ext cx="4264574" cy="2751972"/>
              </a:xfrm>
              <a:prstGeom prst="rect">
                <a:avLst/>
              </a:prstGeom>
              <a:blipFill>
                <a:blip r:embed="rId4"/>
                <a:stretch>
                  <a:fillRect l="-1140" t="-1104" b="-2428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30E787-B0D0-4A08-AB4A-E8858A97D469}"/>
                  </a:ext>
                </a:extLst>
              </p:cNvPr>
              <p:cNvSpPr txBox="1"/>
              <p:nvPr/>
            </p:nvSpPr>
            <p:spPr>
              <a:xfrm>
                <a:off x="5155323" y="4131029"/>
                <a:ext cx="5344510" cy="213904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Численное интегрирование методом Эйлера</a:t>
                </a:r>
                <a:endParaRPr lang="ru-RU" dirty="0">
                  <a:latin typeface="Calibri" panose="020F0502020204030204" pitchFamily="34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𝑣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(м/с)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(м)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Δ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𝑡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шаг по времени (с)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30E787-B0D0-4A08-AB4A-E8858A97D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323" y="4131029"/>
                <a:ext cx="5344510" cy="2139047"/>
              </a:xfrm>
              <a:prstGeom prst="rect">
                <a:avLst/>
              </a:prstGeom>
              <a:blipFill>
                <a:blip r:embed="rId5"/>
                <a:stretch>
                  <a:fillRect l="-911" t="-1416" b="-3399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45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/>
              <p:nvPr/>
            </p:nvSpPr>
            <p:spPr>
              <a:xfrm>
                <a:off x="4953836" y="311973"/>
                <a:ext cx="5546691" cy="5775620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Численное интегрирование Рунге-Кутты 4-го порядка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,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thrust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𝑚𝑔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,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 </m:t>
                      </m:r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;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,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 </m:t>
                      </m:r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Δ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, 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Δ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;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3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,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 </m:t>
                      </m:r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3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Δ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, 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Δ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;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4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 </m:t>
                      </m:r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3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,</m:t>
                      </m:r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 </m:t>
                      </m:r>
                      <m:sSubSup>
                        <m:sSub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4</m:t>
                          </m:r>
                        </m:sub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sup>
                      </m:sSub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 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, 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 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;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6</m:t>
                          </m:r>
                        </m:den>
                      </m:f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+2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+2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h</m:t>
                              </m:r>
                            </m:sup>
                          </m:sSubSup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,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6</m:t>
                          </m:r>
                        </m:den>
                      </m:f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+2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+2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sup>
                    </m:sSubSup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промежуточные приращения высоты (м/с)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sup>
                    </m:sSubSup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промежуточные приращения скорости (м/с²)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на промежуточном состоянии (м/с²)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Δ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𝑡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шаг по времени (с)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3836" y="311973"/>
                <a:ext cx="5546691" cy="5775620"/>
              </a:xfrm>
              <a:prstGeom prst="rect">
                <a:avLst/>
              </a:prstGeom>
              <a:blipFill>
                <a:blip r:embed="rId2"/>
                <a:stretch>
                  <a:fillRect l="-877" t="-421" r="-110" b="-632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/>
              <p:nvPr/>
            </p:nvSpPr>
            <p:spPr>
              <a:xfrm>
                <a:off x="261624" y="191393"/>
                <a:ext cx="4491246" cy="3466205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Тяга на высоте из тяги на уровне моря и в вакууме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𝐹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vac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𝑝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𝐴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𝑒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vac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sl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sl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𝐹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тяга на высоте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(Н)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vac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тяга в вакууме (Н)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sl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тяга на уровне моря (Н)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𝑝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давление воздуха на высоте (Па)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𝐴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эффективная площадь сопла (м²)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624" y="191393"/>
                <a:ext cx="4491246" cy="3466205"/>
              </a:xfrm>
              <a:prstGeom prst="rect">
                <a:avLst/>
              </a:prstGeom>
              <a:blipFill>
                <a:blip r:embed="rId3"/>
                <a:stretch>
                  <a:fillRect l="-1083" t="-701" r="-812" b="-1576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75A51CD-19C6-4245-9DF8-AB74A7B8D3EF}"/>
                  </a:ext>
                </a:extLst>
              </p:cNvPr>
              <p:cNvSpPr txBox="1"/>
              <p:nvPr/>
            </p:nvSpPr>
            <p:spPr>
              <a:xfrm>
                <a:off x="362107" y="4024719"/>
                <a:ext cx="4491246" cy="2781146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Давление воздуха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𝑝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sl</m:t>
                          </m:r>
                        </m:sub>
                      </m:sSub>
                      <m:func>
                        <m:func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𝐻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𝑝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давление воздуха на высоте (Па)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𝑝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sl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давление на уровне моря (101325 Па)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𝐻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масштаба атмосферы (8500 м)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над поверхностью (м) 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75A51CD-19C6-4245-9DF8-AB74A7B8D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07" y="4024719"/>
                <a:ext cx="4491246" cy="2781146"/>
              </a:xfrm>
              <a:prstGeom prst="rect">
                <a:avLst/>
              </a:prstGeom>
              <a:blipFill>
                <a:blip r:embed="rId4"/>
                <a:stretch>
                  <a:fillRect l="-947" t="-873" r="-3248" b="-2402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47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98C59E-AF4A-46C9-9A2C-DCEFB5EC15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FED3227-8642-4316-B38C-8A766B4FFC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F51BA12-C848-4E65-915F-8DFD744844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79" y="0"/>
            <a:ext cx="10150854" cy="7561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39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08F64-2BCA-4911-98DC-1E514CFCC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E9FD234-2C27-4333-8E13-0B13885B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40" b="14640"/>
          <a:stretch/>
        </p:blipFill>
        <p:spPr>
          <a:xfrm>
            <a:off x="0" y="0"/>
            <a:ext cx="10691812" cy="7561263"/>
          </a:xfrm>
        </p:spPr>
      </p:pic>
    </p:spTree>
    <p:extLst>
      <p:ext uri="{BB962C8B-B14F-4D97-AF65-F5344CB8AC3E}">
        <p14:creationId xmlns:p14="http://schemas.microsoft.com/office/powerpoint/2010/main" val="26592830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</TotalTime>
  <Words>755</Words>
  <Application>Microsoft Office PowerPoint</Application>
  <PresentationFormat>Произвольный</PresentationFormat>
  <Paragraphs>95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Consolas</vt:lpstr>
      <vt:lpstr>Times New Roman</vt:lpstr>
      <vt:lpstr>Тема Office</vt:lpstr>
      <vt:lpstr>Фиксированные значения и условия: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Faster Xaos</dc:creator>
  <cp:lastModifiedBy>Faster Xaos</cp:lastModifiedBy>
  <cp:revision>13</cp:revision>
  <dcterms:created xsi:type="dcterms:W3CDTF">2026-03-26T14:46:02Z</dcterms:created>
  <dcterms:modified xsi:type="dcterms:W3CDTF">2026-04-14T12:30:22Z</dcterms:modified>
</cp:coreProperties>
</file>